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7"/>
    <p:sldId id="268" r:id="rId6"/>
    <p:sldId id="269" r:id="rId5"/>
    <p:sldId id="270" r:id="rId4"/>
    <p:sldId id="271" r:id="rId3"/>
    <p:sldId id="272" r:id="rId2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69" userDrawn="1">
          <p15:clr>
            <a:srgbClr val="A4A3A4"/>
          </p15:clr>
        </p15:guide>
        <p15:guide id="2" pos="529" userDrawn="1">
          <p15:clr>
            <a:srgbClr val="A4A3A4"/>
          </p15:clr>
        </p15:guide>
        <p15:guide id="3" pos="10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AD30"/>
    <a:srgbClr val="FFE60A"/>
    <a:srgbClr val="034EA2"/>
    <a:srgbClr val="617240"/>
    <a:srgbClr val="969696"/>
    <a:srgbClr val="484848"/>
    <a:srgbClr val="9BBB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3595" autoAdjust="0"/>
  </p:normalViewPr>
  <p:slideViewPr>
    <p:cSldViewPr snapToGrid="0">
      <p:cViewPr varScale="1">
        <p:scale>
          <a:sx n="74" d="100"/>
          <a:sy n="74" d="100"/>
        </p:scale>
        <p:origin x="802" y="62"/>
      </p:cViewPr>
      <p:guideLst>
        <p:guide orient="horz" pos="4269"/>
        <p:guide pos="529"/>
        <p:guide pos="1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7.xml"/><Relationship Id="rId3" Type="http://schemas.openxmlformats.org/officeDocument/2006/relationships/slide" Target="slides/slide16.xml"/><Relationship Id="rId4" Type="http://schemas.openxmlformats.org/officeDocument/2006/relationships/slide" Target="slides/slide15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0067B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CB000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51AD30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B9382A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B2D9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GAIL</c:v>
                </c:pt>
                <c:pt idx="1">
                  <c:v>GoM</c:v>
                </c:pt>
                <c:pt idx="2">
                  <c:v>FPIs/NRIs</c:v>
                </c:pt>
                <c:pt idx="3">
                  <c:v>DI/ Investors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32.5</c:v>
                </c:pt>
                <c:pt idx="1">
                  <c:v>10</c:v>
                </c:pt>
                <c:pt idx="2">
                  <c:v>24.25</c:v>
                </c:pt>
                <c:pt idx="3">
                  <c:v>23.82</c:v>
                </c:pt>
                <c:pt idx="4">
                  <c:v>9.4</c:v>
                </c:pt>
              </c:numCache>
            </c:numRef>
          </c:val>
        </c:ser>
        <c:dLbls>
          <c:numFmt formatCode="0.0#&quot;%&quot;" sourceLinked="0"/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  <a:latin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legend>
      <c:legendPos/>
      <c:layout/>
      <c:overlay val="0"/>
      <c:txPr>
        <a:bodyPr/>
        <a:lstStyle/>
        <a:p>
          <a:pPr>
            <a:defRPr sz="900">
              <a:solidFill>
                <a:srgbClr val="404040"/>
              </a:solidFill>
              <a:latin typeface="Apto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67B2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FY21-22</c:v>
                </c:pt>
                <c:pt idx="1">
                  <c:v>FY22-23</c:v>
                </c:pt>
                <c:pt idx="2">
                  <c:v>FY 23-24</c:v>
                </c:pt>
                <c:pt idx="3">
                  <c:v>FY 24-25</c:v>
                </c:pt>
                <c:pt idx="4">
                  <c:v>FY 25-26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3970.6343</c:v>
                </c:pt>
                <c:pt idx="1">
                  <c:v>7032.84</c:v>
                </c:pt>
                <c:pt idx="2">
                  <c:v>7037.25</c:v>
                </c:pt>
                <c:pt idx="3">
                  <c:v>7774.0</c:v>
                </c:pt>
                <c:pt idx="4">
                  <c:v>9178.97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888888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0404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404040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PAT</c:v>
                </c:pt>
              </c:strCache>
            </c:strRef>
          </c:tx>
          <c:spPr>
            <a:solidFill>
              <a:srgbClr val="51AD30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FY21-22</c:v>
                </c:pt>
                <c:pt idx="1">
                  <c:v>FY22-23</c:v>
                </c:pt>
                <c:pt idx="2">
                  <c:v>FY 23-24</c:v>
                </c:pt>
                <c:pt idx="3">
                  <c:v>FY 24-25</c:v>
                </c:pt>
                <c:pt idx="4">
                  <c:v>FY 25-26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596.9472</c:v>
                </c:pt>
                <c:pt idx="1">
                  <c:v>790.05</c:v>
                </c:pt>
                <c:pt idx="2">
                  <c:v>1289.07</c:v>
                </c:pt>
                <c:pt idx="3">
                  <c:v>1044.89</c:v>
                </c:pt>
                <c:pt idx="4">
                  <c:v>846.82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888888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0404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404040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FCB000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FY21-22</c:v>
                </c:pt>
                <c:pt idx="1">
                  <c:v>FY22-23</c:v>
                </c:pt>
                <c:pt idx="2">
                  <c:v>FY 23-24</c:v>
                </c:pt>
                <c:pt idx="3">
                  <c:v>FY 24-25</c:v>
                </c:pt>
                <c:pt idx="4">
                  <c:v>FY 25-26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923.9435</c:v>
                </c:pt>
                <c:pt idx="1">
                  <c:v>1183.4</c:v>
                </c:pt>
                <c:pt idx="2">
                  <c:v>1842.8</c:v>
                </c:pt>
                <c:pt idx="3">
                  <c:v>1509.66</c:v>
                </c:pt>
                <c:pt idx="4">
                  <c:v>1450.02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888888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0404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404040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</c:v>
                </c:pt>
              </c:strCache>
            </c:strRef>
          </c:tx>
          <c:spPr>
            <a:solidFill>
              <a:srgbClr val="7FB2D9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FY21-22</c:v>
                </c:pt>
                <c:pt idx="1">
                  <c:v>FY22-23</c:v>
                </c:pt>
                <c:pt idx="2">
                  <c:v>FY 23-24</c:v>
                </c:pt>
                <c:pt idx="3">
                  <c:v>FY 24-25</c:v>
                </c:pt>
                <c:pt idx="4">
                  <c:v>FY 25-26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1514.4085</c:v>
                </c:pt>
                <c:pt idx="1">
                  <c:v>1863.64</c:v>
                </c:pt>
                <c:pt idx="2">
                  <c:v>2626.63</c:v>
                </c:pt>
                <c:pt idx="3">
                  <c:v>2582.52</c:v>
                </c:pt>
                <c:pt idx="4">
                  <c:v>2607.97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888888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0404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404040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CNG Customer</c:v>
                </c:pt>
              </c:strCache>
            </c:strRef>
          </c:tx>
          <c:spPr>
            <a:solidFill>
              <a:srgbClr val="0067B2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FY 21</c:v>
                </c:pt>
                <c:pt idx="1">
                  <c:v>FY 22</c:v>
                </c:pt>
                <c:pt idx="2">
                  <c:v>FY 23</c:v>
                </c:pt>
                <c:pt idx="3">
                  <c:v>FY 24</c:v>
                </c:pt>
                <c:pt idx="4">
                  <c:v>FY 25</c:v>
                </c:pt>
                <c:pt idx="5">
                  <c:v>FY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795</c:v>
                </c:pt>
                <c:pt idx="1">
                  <c:v>855</c:v>
                </c:pt>
                <c:pt idx="2">
                  <c:v>925</c:v>
                </c:pt>
                <c:pt idx="3">
                  <c:v>1005</c:v>
                </c:pt>
                <c:pt idx="4">
                  <c:v>1124</c:v>
                </c:pt>
                <c:pt idx="5">
                  <c:v>1284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888888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0404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404040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PNG Customer</c:v>
                </c:pt>
              </c:strCache>
            </c:strRef>
          </c:tx>
          <c:spPr>
            <a:solidFill>
              <a:srgbClr val="51AD30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FY 21</c:v>
                </c:pt>
                <c:pt idx="1">
                  <c:v>FY 22</c:v>
                </c:pt>
                <c:pt idx="2">
                  <c:v>FY 23</c:v>
                </c:pt>
                <c:pt idx="3">
                  <c:v>FY 24</c:v>
                </c:pt>
                <c:pt idx="4">
                  <c:v>FY 25</c:v>
                </c:pt>
                <c:pt idx="5">
                  <c:v>FY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1257</c:v>
                </c:pt>
                <c:pt idx="1">
                  <c:v>1381</c:v>
                </c:pt>
                <c:pt idx="2">
                  <c:v>1520</c:v>
                </c:pt>
                <c:pt idx="3">
                  <c:v>1697</c:v>
                </c:pt>
                <c:pt idx="4">
                  <c:v>1875</c:v>
                </c:pt>
                <c:pt idx="5">
                  <c:v>2057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888888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0404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404040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CNG</c:v>
                </c:pt>
              </c:strCache>
            </c:strRef>
          </c:tx>
          <c:spPr>
            <a:solidFill>
              <a:srgbClr val="0067B2"/>
            </a:solidFill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FY 21</c:v>
                </c:pt>
                <c:pt idx="1">
                  <c:v>FY 22</c:v>
                </c:pt>
                <c:pt idx="2">
                  <c:v>FY 23</c:v>
                </c:pt>
                <c:pt idx="3">
                  <c:v>FY 24</c:v>
                </c:pt>
                <c:pt idx="4">
                  <c:v>FY 25</c:v>
                </c:pt>
                <c:pt idx="5">
                  <c:v>FY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1.42</c:v>
                </c:pt>
                <c:pt idx="1">
                  <c:v>2.16</c:v>
                </c:pt>
                <c:pt idx="2">
                  <c:v>2.58</c:v>
                </c:pt>
                <c:pt idx="3">
                  <c:v>2.71</c:v>
                </c:pt>
                <c:pt idx="4">
                  <c:v>3.05</c:v>
                </c:pt>
                <c:pt idx="5">
                  <c:v>3.267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DPNG</c:v>
                </c:pt>
              </c:strCache>
            </c:strRef>
          </c:tx>
          <c:spPr>
            <a:solidFill>
              <a:srgbClr val="51AD30"/>
            </a:solidFill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FY 21</c:v>
                </c:pt>
                <c:pt idx="1">
                  <c:v>FY 22</c:v>
                </c:pt>
                <c:pt idx="2">
                  <c:v>FY 23</c:v>
                </c:pt>
                <c:pt idx="3">
                  <c:v>FY 24</c:v>
                </c:pt>
                <c:pt idx="4">
                  <c:v>FY 25</c:v>
                </c:pt>
                <c:pt idx="5">
                  <c:v>FY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0.46</c:v>
                </c:pt>
                <c:pt idx="1">
                  <c:v>0.47</c:v>
                </c:pt>
                <c:pt idx="2">
                  <c:v>0.48</c:v>
                </c:pt>
                <c:pt idx="3">
                  <c:v>0.52</c:v>
                </c:pt>
                <c:pt idx="4">
                  <c:v>0.55</c:v>
                </c:pt>
                <c:pt idx="5">
                  <c:v>0.59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Commercial</c:v>
                </c:pt>
              </c:strCache>
            </c:strRef>
          </c:tx>
          <c:spPr>
            <a:solidFill>
              <a:srgbClr val="FCB000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FY 21</c:v>
                </c:pt>
                <c:pt idx="1">
                  <c:v>FY 22</c:v>
                </c:pt>
                <c:pt idx="2">
                  <c:v>FY 23</c:v>
                </c:pt>
                <c:pt idx="3">
                  <c:v>FY 24</c:v>
                </c:pt>
                <c:pt idx="4">
                  <c:v>FY 25</c:v>
                </c:pt>
                <c:pt idx="5">
                  <c:v>FY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0.11</c:v>
                </c:pt>
                <c:pt idx="1">
                  <c:v>0.15</c:v>
                </c:pt>
                <c:pt idx="2">
                  <c:v>0.14</c:v>
                </c:pt>
                <c:pt idx="3">
                  <c:v>0.14</c:v>
                </c:pt>
                <c:pt idx="4">
                  <c:v>0.14</c:v>
                </c:pt>
                <c:pt idx="5">
                  <c:v>0.15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Industrial</c:v>
                </c:pt>
              </c:strCache>
            </c:strRef>
          </c:tx>
          <c:spPr>
            <a:solidFill>
              <a:srgbClr val="7FB2D9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FY 21</c:v>
                </c:pt>
                <c:pt idx="1">
                  <c:v>FY 22</c:v>
                </c:pt>
                <c:pt idx="2">
                  <c:v>FY 23</c:v>
                </c:pt>
                <c:pt idx="3">
                  <c:v>FY 24</c:v>
                </c:pt>
                <c:pt idx="4">
                  <c:v>FY 25</c:v>
                </c:pt>
                <c:pt idx="5">
                  <c:v>FY 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0.23</c:v>
                </c:pt>
                <c:pt idx="1">
                  <c:v>0.27</c:v>
                </c:pt>
                <c:pt idx="2">
                  <c:v>0.31</c:v>
                </c:pt>
                <c:pt idx="3">
                  <c:v>0.37</c:v>
                </c:pt>
                <c:pt idx="4">
                  <c:v>0.49</c:v>
                </c:pt>
                <c:pt idx="5">
                  <c:v>0.58</c:v>
                </c:pt>
              </c:numCache>
            </c:numRef>
          </c:val>
        </c:ser>
        <c:gapWidth val="70"/>
        <c:overlap val="100"/>
        <c:axId val="-2068027336"/>
        <c:axId val="-2113994440"/>
      </c:barChart>
      <c:lineChart>
        <c:grouping val="standard"/>
        <c:varyColors val="0"/>
        <c:ser>
          <c:idx val="4"/>
          <c:order val="4"/>
          <c:tx>
            <c:v>Total</c:v>
          </c:tx>
          <c:spPr>
            <a:ln w="28575" cap="rnd">
              <a:solidFill>
                <a:srgbClr val="B9382A"/>
              </a:solidFill>
              <a:round/>
            </a:ln>
          </c:spPr>
          <c:marker>
            <c:symbol val="circle"/>
            <c:size val="5"/>
            <c:spPr>
              <a:solidFill>
                <a:srgbClr val="B9382A"/>
              </a:solidFill>
              <a:ln>
                <a:solidFill>
                  <a:srgbClr val="B9382A"/>
                </a:solidFill>
              </a:ln>
            </c:spPr>
          </c:marker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B9382A"/>
                    </a:solidFill>
                    <a:latin typeface="Apto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6"/>
              <c:pt idx="0">
                <c:v>FY 21</c:v>
              </c:pt>
              <c:pt idx="1">
                <c:v>FY 22</c:v>
              </c:pt>
              <c:pt idx="2">
                <c:v>FY 23</c:v>
              </c:pt>
              <c:pt idx="3">
                <c:v>FY 24</c:v>
              </c:pt>
              <c:pt idx="4">
                <c:v>FY 25</c:v>
              </c:pt>
              <c:pt idx="5">
                <c:v>FY 26</c:v>
              </c:pt>
            </c:strLit>
          </c:cat>
          <c:val>
            <c:numLit>
              <c:formatCode>General</c:formatCode>
              <c:ptCount val="6"/>
              <c:pt idx="0">
                <c:v>2.22</c:v>
              </c:pt>
              <c:pt idx="1">
                <c:v>3.05</c:v>
              </c:pt>
              <c:pt idx="2">
                <c:v>3.51</c:v>
              </c:pt>
              <c:pt idx="3">
                <c:v>3.74</c:v>
              </c:pt>
              <c:pt idx="4">
                <c:v>4.23</c:v>
              </c:pt>
              <c:pt idx="5">
                <c:v>4.587</c:v>
              </c:pt>
            </c:numLit>
          </c:val>
          <c:smooth val="0"/>
        </c:ser>
        <c:marker val="1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888888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04040"/>
                </a:solidFill>
                <a:latin typeface="Apto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404040"/>
              </a:solidFill>
              <a:latin typeface="Aptos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404040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CNG Customer</c:v>
                </c:pt>
              </c:strCache>
            </c:strRef>
          </c:tx>
          <c:spPr>
            <a:solidFill>
              <a:srgbClr val="0067B2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FY 21</c:v>
                </c:pt>
                <c:pt idx="1">
                  <c:v>FY 22</c:v>
                </c:pt>
                <c:pt idx="2">
                  <c:v>FY 23</c:v>
                </c:pt>
                <c:pt idx="3">
                  <c:v>FY 24</c:v>
                </c:pt>
                <c:pt idx="4">
                  <c:v>FY 25</c:v>
                </c:pt>
                <c:pt idx="5">
                  <c:v>FY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795</c:v>
                </c:pt>
                <c:pt idx="1">
                  <c:v>855</c:v>
                </c:pt>
                <c:pt idx="2">
                  <c:v>925</c:v>
                </c:pt>
                <c:pt idx="3">
                  <c:v>1005</c:v>
                </c:pt>
                <c:pt idx="4">
                  <c:v>1124</c:v>
                </c:pt>
                <c:pt idx="5">
                  <c:v>1284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888888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0404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404040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PNG Customer</c:v>
                </c:pt>
              </c:strCache>
            </c:strRef>
          </c:tx>
          <c:spPr>
            <a:solidFill>
              <a:srgbClr val="51AD30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FY 21</c:v>
                </c:pt>
                <c:pt idx="1">
                  <c:v>FY 22</c:v>
                </c:pt>
                <c:pt idx="2">
                  <c:v>FY 23</c:v>
                </c:pt>
                <c:pt idx="3">
                  <c:v>FY 24</c:v>
                </c:pt>
                <c:pt idx="4">
                  <c:v>FY 25</c:v>
                </c:pt>
                <c:pt idx="5">
                  <c:v>FY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1257</c:v>
                </c:pt>
                <c:pt idx="1">
                  <c:v>1381</c:v>
                </c:pt>
                <c:pt idx="2">
                  <c:v>1520</c:v>
                </c:pt>
                <c:pt idx="3">
                  <c:v>1697</c:v>
                </c:pt>
                <c:pt idx="4">
                  <c:v>1875</c:v>
                </c:pt>
                <c:pt idx="5">
                  <c:v>2057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888888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0404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404040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CNG</c:v>
                </c:pt>
              </c:strCache>
            </c:strRef>
          </c:tx>
          <c:spPr>
            <a:solidFill>
              <a:srgbClr val="0067B2"/>
            </a:solidFill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FY 21</c:v>
                </c:pt>
                <c:pt idx="1">
                  <c:v>FY 22</c:v>
                </c:pt>
                <c:pt idx="2">
                  <c:v>FY 23</c:v>
                </c:pt>
                <c:pt idx="3">
                  <c:v>FY 24</c:v>
                </c:pt>
                <c:pt idx="4">
                  <c:v>FY 25</c:v>
                </c:pt>
                <c:pt idx="5">
                  <c:v>FY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1.42</c:v>
                </c:pt>
                <c:pt idx="1">
                  <c:v>2.16</c:v>
                </c:pt>
                <c:pt idx="2">
                  <c:v>2.58</c:v>
                </c:pt>
                <c:pt idx="3">
                  <c:v>2.71</c:v>
                </c:pt>
                <c:pt idx="4">
                  <c:v>3.05</c:v>
                </c:pt>
                <c:pt idx="5">
                  <c:v>3.267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DPNG</c:v>
                </c:pt>
              </c:strCache>
            </c:strRef>
          </c:tx>
          <c:spPr>
            <a:solidFill>
              <a:srgbClr val="51AD30"/>
            </a:solidFill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FY 21</c:v>
                </c:pt>
                <c:pt idx="1">
                  <c:v>FY 22</c:v>
                </c:pt>
                <c:pt idx="2">
                  <c:v>FY 23</c:v>
                </c:pt>
                <c:pt idx="3">
                  <c:v>FY 24</c:v>
                </c:pt>
                <c:pt idx="4">
                  <c:v>FY 25</c:v>
                </c:pt>
                <c:pt idx="5">
                  <c:v>FY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0.46</c:v>
                </c:pt>
                <c:pt idx="1">
                  <c:v>0.47</c:v>
                </c:pt>
                <c:pt idx="2">
                  <c:v>0.48</c:v>
                </c:pt>
                <c:pt idx="3">
                  <c:v>0.52</c:v>
                </c:pt>
                <c:pt idx="4">
                  <c:v>0.55</c:v>
                </c:pt>
                <c:pt idx="5">
                  <c:v>0.59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Commercial</c:v>
                </c:pt>
              </c:strCache>
            </c:strRef>
          </c:tx>
          <c:spPr>
            <a:solidFill>
              <a:srgbClr val="FCB000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FY 21</c:v>
                </c:pt>
                <c:pt idx="1">
                  <c:v>FY 22</c:v>
                </c:pt>
                <c:pt idx="2">
                  <c:v>FY 23</c:v>
                </c:pt>
                <c:pt idx="3">
                  <c:v>FY 24</c:v>
                </c:pt>
                <c:pt idx="4">
                  <c:v>FY 25</c:v>
                </c:pt>
                <c:pt idx="5">
                  <c:v>FY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0.11</c:v>
                </c:pt>
                <c:pt idx="1">
                  <c:v>0.15</c:v>
                </c:pt>
                <c:pt idx="2">
                  <c:v>0.14</c:v>
                </c:pt>
                <c:pt idx="3">
                  <c:v>0.14</c:v>
                </c:pt>
                <c:pt idx="4">
                  <c:v>0.14</c:v>
                </c:pt>
                <c:pt idx="5">
                  <c:v>0.15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Industrial</c:v>
                </c:pt>
              </c:strCache>
            </c:strRef>
          </c:tx>
          <c:spPr>
            <a:solidFill>
              <a:srgbClr val="7FB2D9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FY 21</c:v>
                </c:pt>
                <c:pt idx="1">
                  <c:v>FY 22</c:v>
                </c:pt>
                <c:pt idx="2">
                  <c:v>FY 23</c:v>
                </c:pt>
                <c:pt idx="3">
                  <c:v>FY 24</c:v>
                </c:pt>
                <c:pt idx="4">
                  <c:v>FY 25</c:v>
                </c:pt>
                <c:pt idx="5">
                  <c:v>FY 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0.23</c:v>
                </c:pt>
                <c:pt idx="1">
                  <c:v>0.27</c:v>
                </c:pt>
                <c:pt idx="2">
                  <c:v>0.31</c:v>
                </c:pt>
                <c:pt idx="3">
                  <c:v>0.37</c:v>
                </c:pt>
                <c:pt idx="4">
                  <c:v>0.49</c:v>
                </c:pt>
                <c:pt idx="5">
                  <c:v>0.58</c:v>
                </c:pt>
              </c:numCache>
            </c:numRef>
          </c:val>
        </c:ser>
        <c:gapWidth val="70"/>
        <c:overlap val="100"/>
        <c:axId val="-2068027336"/>
        <c:axId val="-2113994440"/>
      </c:barChart>
      <c:lineChart>
        <c:grouping val="standard"/>
        <c:varyColors val="0"/>
        <c:ser>
          <c:idx val="4"/>
          <c:order val="4"/>
          <c:tx>
            <c:v>Total</c:v>
          </c:tx>
          <c:spPr>
            <a:ln w="28575" cap="rnd">
              <a:solidFill>
                <a:srgbClr val="B9382A"/>
              </a:solidFill>
              <a:round/>
            </a:ln>
          </c:spPr>
          <c:marker>
            <c:symbol val="circle"/>
            <c:size val="5"/>
            <c:spPr>
              <a:solidFill>
                <a:srgbClr val="B9382A"/>
              </a:solidFill>
              <a:ln>
                <a:solidFill>
                  <a:srgbClr val="B9382A"/>
                </a:solidFill>
              </a:ln>
            </c:spPr>
          </c:marker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B9382A"/>
                    </a:solidFill>
                    <a:latin typeface="Apto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6"/>
              <c:pt idx="0">
                <c:v>FY 21</c:v>
              </c:pt>
              <c:pt idx="1">
                <c:v>FY 22</c:v>
              </c:pt>
              <c:pt idx="2">
                <c:v>FY 23</c:v>
              </c:pt>
              <c:pt idx="3">
                <c:v>FY 24</c:v>
              </c:pt>
              <c:pt idx="4">
                <c:v>FY 25</c:v>
              </c:pt>
              <c:pt idx="5">
                <c:v>FY 26</c:v>
              </c:pt>
            </c:strLit>
          </c:cat>
          <c:val>
            <c:numLit>
              <c:formatCode>General</c:formatCode>
              <c:ptCount val="6"/>
              <c:pt idx="0">
                <c:v>2.22</c:v>
              </c:pt>
              <c:pt idx="1">
                <c:v>3.05</c:v>
              </c:pt>
              <c:pt idx="2">
                <c:v>3.51</c:v>
              </c:pt>
              <c:pt idx="3">
                <c:v>3.74</c:v>
              </c:pt>
              <c:pt idx="4">
                <c:v>4.23</c:v>
              </c:pt>
              <c:pt idx="5">
                <c:v>4.587</c:v>
              </c:pt>
            </c:numLit>
          </c:val>
          <c:smooth val="0"/>
        </c:ser>
        <c:marker val="1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888888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04040"/>
                </a:solidFill>
                <a:latin typeface="Apto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404040"/>
              </a:solidFill>
              <a:latin typeface="Aptos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404040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Capex</c:v>
                </c:pt>
              </c:strCache>
            </c:strRef>
          </c:tx>
          <c:spPr>
            <a:solidFill>
              <a:srgbClr val="0067B2"/>
            </a:solidFill>
          </c:spPr>
          <c:invertIfNegative val="0"/>
          <c:dPt>
            <c:idx val="0"/>
            <c:spPr>
              <a:solidFill>
                <a:srgbClr val="0067B2"/>
              </a:solidFill>
            </c:spPr>
          </c:dPt>
          <c:dPt>
            <c:idx val="1"/>
            <c:spPr>
              <a:solidFill>
                <a:srgbClr val="51AD30"/>
              </a:solidFill>
            </c:spPr>
          </c:dPt>
          <c:dPt>
            <c:idx val="2"/>
            <c:spPr>
              <a:solidFill>
                <a:srgbClr val="51AD30"/>
              </a:solidFill>
            </c:spPr>
          </c:dPt>
          <c:dPt>
            <c:idx val="3"/>
            <c:spPr>
              <a:solidFill>
                <a:srgbClr val="51AD30"/>
              </a:solidFill>
            </c:spPr>
          </c:dPt>
          <c:dPt>
            <c:idx val="4"/>
            <c:spPr>
              <a:solidFill>
                <a:srgbClr val="51AD30"/>
              </a:solidFill>
            </c:spPr>
          </c:dPt>
          <c:dPt>
            <c:idx val="5"/>
            <c:spPr>
              <a:solidFill>
                <a:srgbClr val="51AD30"/>
              </a:solidFill>
            </c:spPr>
          </c:dPt>
          <c:cat>
            <c:strRef>
              <c:f>Sheet1!$A$2:$A$7</c:f>
              <c:strCache>
                <c:ptCount val="6"/>
                <c:pt idx="0">
                  <c:v>Actual
FY 2023-24</c:v>
                </c:pt>
                <c:pt idx="1">
                  <c:v>Target
(FY 2024-25)</c:v>
                </c:pt>
                <c:pt idx="2">
                  <c:v>Target
(FY 2025-26)</c:v>
                </c:pt>
                <c:pt idx="3">
                  <c:v>Target
(FY 2026-27)</c:v>
                </c:pt>
                <c:pt idx="4">
                  <c:v>Target
(FY 2027-28)</c:v>
                </c:pt>
                <c:pt idx="5">
                  <c:v>Target
(FY 2028-29)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847</c:v>
                </c:pt>
                <c:pt idx="1">
                  <c:v>1454</c:v>
                </c:pt>
                <c:pt idx="2">
                  <c:v>1346</c:v>
                </c:pt>
                <c:pt idx="3">
                  <c:v>1453</c:v>
                </c:pt>
                <c:pt idx="4">
                  <c:v>1297</c:v>
                </c:pt>
                <c:pt idx="5">
                  <c:v>1297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888888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0404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404040"/>
          </a:solidFill>
          <a:latin typeface="Aptos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2A1981-8285-26D3-9048-59E95F69B1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43F340-E12E-A86A-74F2-8ED8373563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B3EF5-26D9-4092-8AD7-CCE91500542B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7CC80-244B-8892-370D-197DA06F16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B5C1E-C830-05B9-7BF9-09C7B2BD9D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DC760-6F6C-4508-8B97-FF3281123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1680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91BF34-9C09-4633-82B8-549E67E2F396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CCBD6-B346-47E1-9248-EF2BBC70301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9246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69762"/>
            <a:ext cx="8958020" cy="1859797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029559"/>
            <a:ext cx="8958020" cy="66642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C05F8D-1416-45C9-B194-7F9AECC7F43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8024" y="6356350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2D1BE-A5CF-484D-A81A-FEE5F186D38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4215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0216" y="625294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62D868-45F8-4DC9-B961-385813C5BF1B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C10158-5266-B631-6A51-69480FA52FE2}"/>
              </a:ext>
            </a:extLst>
          </p:cNvPr>
          <p:cNvCxnSpPr/>
          <p:nvPr userDrawn="1"/>
        </p:nvCxnSpPr>
        <p:spPr>
          <a:xfrm>
            <a:off x="152400" y="673894"/>
            <a:ext cx="10525125" cy="7143"/>
          </a:xfrm>
          <a:prstGeom prst="line">
            <a:avLst/>
          </a:prstGeom>
          <a:ln w="12700">
            <a:solidFill>
              <a:srgbClr val="51AD3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136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4712" y="3456122"/>
            <a:ext cx="9438468" cy="1106353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34712" y="4589463"/>
            <a:ext cx="943846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3DBC20-6A29-4122-92A5-D41EC13AA91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7105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03200"/>
            <a:ext cx="10515600" cy="477837"/>
          </a:xfrm>
        </p:spPr>
        <p:txBody>
          <a:bodyPr>
            <a:noAutofit/>
          </a:bodyPr>
          <a:lstStyle>
            <a:lvl1pPr>
              <a:defRPr sz="2800">
                <a:solidFill>
                  <a:srgbClr val="51AD30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174879-998C-496C-938C-EF93282F2B5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EBBAAC-2CA1-1C49-47CB-BD52B673F2D9}"/>
              </a:ext>
            </a:extLst>
          </p:cNvPr>
          <p:cNvCxnSpPr/>
          <p:nvPr userDrawn="1"/>
        </p:nvCxnSpPr>
        <p:spPr>
          <a:xfrm>
            <a:off x="152400" y="673894"/>
            <a:ext cx="10525125" cy="7143"/>
          </a:xfrm>
          <a:prstGeom prst="line">
            <a:avLst/>
          </a:prstGeom>
          <a:ln>
            <a:solidFill>
              <a:srgbClr val="51AD3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104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7C8DE-CDEA-4737-AB6E-6AF808BA5CC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80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59B0AF-417D-4939-8AAC-F484CB65913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354A15-672B-9080-39A5-9E1260D2E535}"/>
              </a:ext>
            </a:extLst>
          </p:cNvPr>
          <p:cNvCxnSpPr/>
          <p:nvPr userDrawn="1"/>
        </p:nvCxnSpPr>
        <p:spPr>
          <a:xfrm>
            <a:off x="152400" y="673894"/>
            <a:ext cx="10525125" cy="7143"/>
          </a:xfrm>
          <a:prstGeom prst="line">
            <a:avLst/>
          </a:prstGeom>
          <a:ln>
            <a:solidFill>
              <a:srgbClr val="51AD3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733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579DFC-AFC8-43BA-A86C-D99E5D721F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16821DD-83AE-DB6B-3EB9-BF22CB23C976}"/>
              </a:ext>
            </a:extLst>
          </p:cNvPr>
          <p:cNvCxnSpPr/>
          <p:nvPr userDrawn="1"/>
        </p:nvCxnSpPr>
        <p:spPr>
          <a:xfrm>
            <a:off x="152400" y="673894"/>
            <a:ext cx="10525125" cy="7143"/>
          </a:xfrm>
          <a:prstGeom prst="line">
            <a:avLst/>
          </a:prstGeom>
          <a:ln>
            <a:solidFill>
              <a:srgbClr val="51AD3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22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9B66EF-9460-46E9-B1E9-91E3BE41665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744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4D2303-220C-424F-9787-44070ADF738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48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63AE6F-9CC7-4DB7-BFC1-0E7C880CD58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5D984C-179A-F9ED-3D31-B122F1D122CE}"/>
              </a:ext>
            </a:extLst>
          </p:cNvPr>
          <p:cNvCxnSpPr/>
          <p:nvPr userDrawn="1"/>
        </p:nvCxnSpPr>
        <p:spPr>
          <a:xfrm>
            <a:off x="152400" y="673894"/>
            <a:ext cx="10525125" cy="7143"/>
          </a:xfrm>
          <a:prstGeom prst="line">
            <a:avLst/>
          </a:prstGeom>
          <a:ln>
            <a:solidFill>
              <a:srgbClr val="51AD3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164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Myriad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yriad Pro Light" panose="020B0403030403020204" pitchFamily="34" charset="0"/>
              </a:defRPr>
            </a:lvl1pPr>
            <a:lvl2pPr>
              <a:defRPr>
                <a:latin typeface="Myriad Pro Light" panose="020B0403030403020204" pitchFamily="34" charset="0"/>
              </a:defRPr>
            </a:lvl2pPr>
            <a:lvl3pPr>
              <a:defRPr>
                <a:latin typeface="Myriad Pro Light" panose="020B0403030403020204" pitchFamily="34" charset="0"/>
              </a:defRPr>
            </a:lvl3pPr>
            <a:lvl4pPr>
              <a:defRPr>
                <a:latin typeface="Myriad Pro Light" panose="020B0403030403020204" pitchFamily="34" charset="0"/>
              </a:defRPr>
            </a:lvl4pPr>
            <a:lvl5pPr>
              <a:defRPr>
                <a:latin typeface="Myriad Pro Light" panose="020B04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Myriad Pro Light" panose="020B0403030403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3F9978-96A6-4A74-BC58-80574544371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yriad Pro Light" panose="020B0403030403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yriad Pro Light" panose="020B0403030403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Myriad Pro Light" panose="020B0403030403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yriad Pro Light" panose="020B0403030403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1499741" y="6271998"/>
            <a:ext cx="396499" cy="4230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Myriad Pro Light" panose="020B0403030403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2D1BE-A5CF-484D-A81A-FEE5F186D38F}" type="slidenum">
              <a:rPr kumimoji="0" lang="en-I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1637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2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79383"/>
            <a:ext cx="10515600" cy="494511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093629-71E1-4640-A8E5-B6EE98F8FE2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3917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BADF27-C51B-DB82-5202-CD9841C6854A}"/>
              </a:ext>
            </a:extLst>
          </p:cNvPr>
          <p:cNvCxnSpPr/>
          <p:nvPr userDrawn="1"/>
        </p:nvCxnSpPr>
        <p:spPr>
          <a:xfrm>
            <a:off x="152400" y="673894"/>
            <a:ext cx="10525125" cy="7143"/>
          </a:xfrm>
          <a:prstGeom prst="line">
            <a:avLst/>
          </a:prstGeom>
          <a:ln w="12700">
            <a:solidFill>
              <a:srgbClr val="51AD3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18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rgbClr val="51AD30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chart" Target="../charts/chart1.xml"/><Relationship Id="rId7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6.png"/><Relationship Id="rId7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3" Type="http://schemas.openxmlformats.org/officeDocument/2006/relationships/image" Target="../media/image26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11.png"/><Relationship Id="rId4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1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0" Type="http://schemas.openxmlformats.org/officeDocument/2006/relationships/image" Target="../media/image3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3.png"/><Relationship Id="rId4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67128"/>
            <a:ext cx="8961120" cy="996696"/>
          </a:xfrm>
        </p:spPr>
        <p:txBody>
          <a:bodyPr/>
          <a:lstStyle/>
          <a:p>
            <a:r>
              <a:t>Corporate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182112"/>
            <a:ext cx="8961120" cy="502920"/>
          </a:xfrm>
        </p:spPr>
        <p:txBody>
          <a:bodyPr/>
          <a:lstStyle/>
          <a:p>
            <a:r>
              <a:t>Mahanagar Gas Limited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114800"/>
            <a:ext cx="8961120" cy="667512"/>
          </a:xfrm>
        </p:spPr>
        <p:txBody>
          <a:bodyPr/>
          <a:lstStyle/>
          <a:p>
            <a:r>
              <a:t>05th Oct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8024" y="6356350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2D1BE-A5CF-484D-A81A-FEE5F186D38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MGL Overview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Our History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8" name="Connector"/>
          <p:cNvSpPr/>
          <p:nvPr/>
        </p:nvSpPr>
        <p:spPr>
          <a:xfrm>
            <a:off x="1371600" y="3611880"/>
            <a:ext cx="9445752" cy="36576"/>
          </a:xfrm>
          <a:prstGeom prst="rect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con circle waves"/>
          <p:cNvSpPr/>
          <p:nvPr/>
        </p:nvSpPr>
        <p:spPr>
          <a:xfrm>
            <a:off x="1548079" y="3310128"/>
            <a:ext cx="658368" cy="658368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a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087" y="3468136"/>
            <a:ext cx="342351" cy="3423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399" y="2926080"/>
            <a:ext cx="19257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2F7A17"/>
                </a:solidFill>
                <a:latin typeface="Aptos"/>
              </a:rPr>
              <a:t>1976</a:t>
            </a:r>
          </a:p>
        </p:txBody>
      </p:sp>
      <p:sp>
        <p:nvSpPr>
          <p:cNvPr id="12" name="Card"/>
          <p:cNvSpPr/>
          <p:nvPr/>
        </p:nvSpPr>
        <p:spPr>
          <a:xfrm>
            <a:off x="896111" y="1325880"/>
            <a:ext cx="1962302" cy="14813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39" y="1435607"/>
            <a:ext cx="174284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Aptos"/>
              </a:rPr>
              <a:t>Mumbai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39" y="1764791"/>
            <a:ext cx="1742846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Aptos"/>
              </a:rPr>
              <a:t>Natural Gas Flared off</a:t>
            </a:r>
          </a:p>
        </p:txBody>
      </p:sp>
      <p:sp>
        <p:nvSpPr>
          <p:cNvPr id="15" name="Icon circle buildings"/>
          <p:cNvSpPr/>
          <p:nvPr/>
        </p:nvSpPr>
        <p:spPr>
          <a:xfrm>
            <a:off x="3656685" y="3310128"/>
            <a:ext cx="658368" cy="658368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uil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693" y="3468136"/>
            <a:ext cx="342351" cy="3423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23006" y="4096512"/>
            <a:ext cx="19257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2F7A17"/>
                </a:solidFill>
                <a:latin typeface="Aptos"/>
              </a:rPr>
              <a:t>Late 1980’s</a:t>
            </a:r>
          </a:p>
        </p:txBody>
      </p:sp>
      <p:sp>
        <p:nvSpPr>
          <p:cNvPr id="18" name="Card"/>
          <p:cNvSpPr/>
          <p:nvPr/>
        </p:nvSpPr>
        <p:spPr>
          <a:xfrm>
            <a:off x="3004718" y="4434840"/>
            <a:ext cx="1962302" cy="14173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14446" y="4544568"/>
            <a:ext cx="174284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Aptos"/>
              </a:rPr>
              <a:t>GOI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14446" y="4873752"/>
            <a:ext cx="1742846" cy="978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Aptos"/>
              </a:rPr>
              <a:t>Planned to utilize the gas instead of flaring and nominated GAIL to implement CGD project in Mumbai</a:t>
            </a:r>
          </a:p>
        </p:txBody>
      </p:sp>
      <p:sp>
        <p:nvSpPr>
          <p:cNvPr id="21" name="Icon circle handshake"/>
          <p:cNvSpPr/>
          <p:nvPr/>
        </p:nvSpPr>
        <p:spPr>
          <a:xfrm>
            <a:off x="5765292" y="3310128"/>
            <a:ext cx="658368" cy="658368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300" y="3468136"/>
            <a:ext cx="342351" cy="34235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131612" y="2926080"/>
            <a:ext cx="19257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2F7A17"/>
                </a:solidFill>
                <a:latin typeface="Aptos"/>
              </a:rPr>
              <a:t>Early 1990’s</a:t>
            </a:r>
          </a:p>
        </p:txBody>
      </p:sp>
      <p:sp>
        <p:nvSpPr>
          <p:cNvPr id="24" name="Card"/>
          <p:cNvSpPr/>
          <p:nvPr/>
        </p:nvSpPr>
        <p:spPr>
          <a:xfrm>
            <a:off x="5113324" y="1325880"/>
            <a:ext cx="1962302" cy="14813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23052" y="1435607"/>
            <a:ext cx="174284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Aptos"/>
              </a:rPr>
              <a:t>GAIL Partnered British Gas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3052" y="1764791"/>
            <a:ext cx="1742846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Aptos"/>
              </a:rPr>
              <a:t>To leverage on their technical Know-how and robust safety practices of BG</a:t>
            </a:r>
          </a:p>
        </p:txBody>
      </p:sp>
      <p:sp>
        <p:nvSpPr>
          <p:cNvPr id="27" name="Icon circle flame"/>
          <p:cNvSpPr/>
          <p:nvPr/>
        </p:nvSpPr>
        <p:spPr>
          <a:xfrm>
            <a:off x="7873898" y="3310128"/>
            <a:ext cx="658368" cy="658368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l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1906" y="3468136"/>
            <a:ext cx="342351" cy="34235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40219" y="4096512"/>
            <a:ext cx="19257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2F7A17"/>
                </a:solidFill>
                <a:latin typeface="Aptos"/>
              </a:rPr>
              <a:t>8th May 1995</a:t>
            </a:r>
          </a:p>
        </p:txBody>
      </p:sp>
      <p:sp>
        <p:nvSpPr>
          <p:cNvPr id="30" name="Card"/>
          <p:cNvSpPr/>
          <p:nvPr/>
        </p:nvSpPr>
        <p:spPr>
          <a:xfrm>
            <a:off x="7221931" y="4434840"/>
            <a:ext cx="1962302" cy="14173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31659" y="4544568"/>
            <a:ext cx="174284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Aptos"/>
              </a:rPr>
              <a:t>MGL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1659" y="4873752"/>
            <a:ext cx="1742846" cy="978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Aptos"/>
              </a:rPr>
              <a:t>Was incorporated as a JV between GAIL and BG</a:t>
            </a:r>
          </a:p>
        </p:txBody>
      </p:sp>
      <p:sp>
        <p:nvSpPr>
          <p:cNvPr id="33" name="Icon circle flag"/>
          <p:cNvSpPr/>
          <p:nvPr/>
        </p:nvSpPr>
        <p:spPr>
          <a:xfrm>
            <a:off x="9982504" y="3310128"/>
            <a:ext cx="658368" cy="658368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la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0513" y="3468136"/>
            <a:ext cx="342351" cy="3423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348825" y="2926080"/>
            <a:ext cx="19257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2F7A17"/>
                </a:solidFill>
                <a:latin typeface="Aptos"/>
              </a:rPr>
              <a:t>MGL Today</a:t>
            </a:r>
          </a:p>
        </p:txBody>
      </p:sp>
      <p:sp>
        <p:nvSpPr>
          <p:cNvPr id="36" name="Card"/>
          <p:cNvSpPr/>
          <p:nvPr/>
        </p:nvSpPr>
        <p:spPr>
          <a:xfrm>
            <a:off x="9330537" y="1325880"/>
            <a:ext cx="1962302" cy="14813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40265" y="1435607"/>
            <a:ext cx="1742846" cy="1307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Aptos"/>
              </a:rPr>
              <a:t>Mahanagar Gas Limited (MGL) sowed the seeds of success in city  gas  distribution  in India and  today stands as a leader in the CGD sector, known for its excellence in operations and safety.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Company Overview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8" name="Card"/>
          <p:cNvSpPr/>
          <p:nvPr/>
        </p:nvSpPr>
        <p:spPr>
          <a:xfrm>
            <a:off x="822960" y="1188720"/>
            <a:ext cx="5577840" cy="914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con circle flag"/>
          <p:cNvSpPr/>
          <p:nvPr/>
        </p:nvSpPr>
        <p:spPr>
          <a:xfrm>
            <a:off x="960120" y="1389888"/>
            <a:ext cx="512064" cy="512064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015" y="1512783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27632" y="1280160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ptos"/>
              </a:rPr>
              <a:t>Mahanagar Gas Limited (MGL) was incorporated on 8th May 1995 with GAIL and British Gas as its promoters.</a:t>
            </a:r>
          </a:p>
        </p:txBody>
      </p:sp>
      <p:sp>
        <p:nvSpPr>
          <p:cNvPr id="12" name="Card"/>
          <p:cNvSpPr/>
          <p:nvPr/>
        </p:nvSpPr>
        <p:spPr>
          <a:xfrm>
            <a:off x="822960" y="2212848"/>
            <a:ext cx="5577840" cy="914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con circle exchange"/>
          <p:cNvSpPr/>
          <p:nvPr/>
        </p:nvSpPr>
        <p:spPr>
          <a:xfrm>
            <a:off x="960120" y="2414016"/>
            <a:ext cx="512064" cy="512064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015" y="2536911"/>
            <a:ext cx="266273" cy="26627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27632" y="2304288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ptos"/>
              </a:rPr>
              <a:t>In August 2019, BGAPH completely divested its equity.</a:t>
            </a:r>
          </a:p>
        </p:txBody>
      </p:sp>
      <p:sp>
        <p:nvSpPr>
          <p:cNvPr id="16" name="Card"/>
          <p:cNvSpPr/>
          <p:nvPr/>
        </p:nvSpPr>
        <p:spPr>
          <a:xfrm>
            <a:off x="822960" y="3236976"/>
            <a:ext cx="5577840" cy="914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con circle chart-up"/>
          <p:cNvSpPr/>
          <p:nvPr/>
        </p:nvSpPr>
        <p:spPr>
          <a:xfrm>
            <a:off x="960120" y="3438144"/>
            <a:ext cx="512064" cy="512064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art-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015" y="3561039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27632" y="3328416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ptos"/>
              </a:rPr>
              <a:t>MGL got listed on 1st July 2016; Government of Maharashtra (GoM) increased its shareholding to 10%.</a:t>
            </a:r>
          </a:p>
        </p:txBody>
      </p:sp>
      <p:sp>
        <p:nvSpPr>
          <p:cNvPr id="20" name="Card"/>
          <p:cNvSpPr/>
          <p:nvPr/>
        </p:nvSpPr>
        <p:spPr>
          <a:xfrm>
            <a:off x="822960" y="4261104"/>
            <a:ext cx="5577840" cy="914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con circle pie"/>
          <p:cNvSpPr/>
          <p:nvPr/>
        </p:nvSpPr>
        <p:spPr>
          <a:xfrm>
            <a:off x="960120" y="4462272"/>
            <a:ext cx="512064" cy="512064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015" y="4585167"/>
            <a:ext cx="266273" cy="2662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27632" y="4352544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ptos"/>
              </a:rPr>
              <a:t>GAIL owns 32.5% , GoM owns 10% stake in the company, with the remaining stake distributed amongst FPIs/NRIs (~24.25%), DI/ Investors (~23.82%), Others (9.4%).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18872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ptos"/>
              </a:rPr>
              <a:t>Shareholding</a:t>
            </a:r>
          </a:p>
        </p:txBody>
      </p:sp>
      <p:graphicFrame>
        <p:nvGraphicFramePr>
          <p:cNvPr id="25" name="Chart"/>
          <p:cNvGraphicFramePr>
            <a:graphicFrameLocks noGrp="1"/>
          </p:cNvGraphicFramePr>
          <p:nvPr/>
        </p:nvGraphicFramePr>
        <p:xfrm>
          <a:off x="6583680" y="1417320"/>
          <a:ext cx="4754880" cy="233172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6" name="Card"/>
          <p:cNvSpPr/>
          <p:nvPr/>
        </p:nvSpPr>
        <p:spPr>
          <a:xfrm>
            <a:off x="6675120" y="3886200"/>
            <a:ext cx="4690872" cy="1783080"/>
          </a:xfrm>
          <a:prstGeom prst="rect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con circle bulb"/>
          <p:cNvSpPr/>
          <p:nvPr/>
        </p:nvSpPr>
        <p:spPr>
          <a:xfrm>
            <a:off x="6812280" y="4023360"/>
            <a:ext cx="475488" cy="475488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u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6397" y="4137477"/>
            <a:ext cx="247253" cy="24725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06640" y="4050791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F7A17"/>
                </a:solidFill>
                <a:latin typeface="Aptos"/>
              </a:rPr>
              <a:t>Corporate Vision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572000"/>
            <a:ext cx="4434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har char="•"/>
            </a:pPr>
            <a:r>
              <a:rPr sz="1000" b="0" i="0">
                <a:solidFill>
                  <a:srgbClr val="000000"/>
                </a:solidFill>
                <a:latin typeface="Aptos"/>
              </a:rPr>
              <a:t/>
            </a:r>
            <a:r>
              <a:rPr sz="1000" b="0">
                <a:solidFill>
                  <a:srgbClr val="000000"/>
                </a:solidFill>
                <a:latin typeface="Aptos"/>
              </a:rPr>
              <a:t>To be world class, consumer and environment-friendly company, an employer of choice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1000" b="0">
                <a:solidFill>
                  <a:srgbClr val="000000"/>
                </a:solidFill>
                <a:latin typeface="Aptos"/>
              </a:rPr>
              <a:t>Committed to provide safe, efficient, and reliable energy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1000" b="0">
                <a:solidFill>
                  <a:srgbClr val="000000"/>
                </a:solidFill>
                <a:latin typeface="Aptos"/>
              </a:rPr>
              <a:t>While creating value for all our stakeholders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MGL Business Verticals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8" name="Org box"/>
          <p:cNvSpPr/>
          <p:nvPr/>
        </p:nvSpPr>
        <p:spPr>
          <a:xfrm>
            <a:off x="4727448" y="1234440"/>
            <a:ext cx="2743200" cy="566928"/>
          </a:xfrm>
          <a:prstGeom prst="rect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1234440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Mahanagar Gas Limited</a:t>
            </a:r>
          </a:p>
        </p:txBody>
      </p:sp>
      <p:sp>
        <p:nvSpPr>
          <p:cNvPr id="10" name="Connector"/>
          <p:cNvSpPr/>
          <p:nvPr/>
        </p:nvSpPr>
        <p:spPr>
          <a:xfrm>
            <a:off x="6089904" y="1801368"/>
            <a:ext cx="27432" cy="347472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nector"/>
          <p:cNvSpPr/>
          <p:nvPr/>
        </p:nvSpPr>
        <p:spPr>
          <a:xfrm>
            <a:off x="2148840" y="2130552"/>
            <a:ext cx="7909560" cy="27432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nnector"/>
          <p:cNvSpPr/>
          <p:nvPr/>
        </p:nvSpPr>
        <p:spPr>
          <a:xfrm>
            <a:off x="2139696" y="2130552"/>
            <a:ext cx="27432" cy="32004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rg box"/>
          <p:cNvSpPr/>
          <p:nvPr/>
        </p:nvSpPr>
        <p:spPr>
          <a:xfrm>
            <a:off x="685800" y="2450592"/>
            <a:ext cx="2926080" cy="640080"/>
          </a:xfrm>
          <a:prstGeom prst="rect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con circle handshake"/>
          <p:cNvSpPr/>
          <p:nvPr/>
        </p:nvSpPr>
        <p:spPr>
          <a:xfrm>
            <a:off x="795528" y="2551176"/>
            <a:ext cx="438912" cy="438912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866" y="2656514"/>
            <a:ext cx="228234" cy="22823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25880" y="245059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Merger &amp; Acquisition</a:t>
            </a:r>
          </a:p>
        </p:txBody>
      </p:sp>
      <p:sp>
        <p:nvSpPr>
          <p:cNvPr id="17" name="Connector"/>
          <p:cNvSpPr/>
          <p:nvPr/>
        </p:nvSpPr>
        <p:spPr>
          <a:xfrm>
            <a:off x="2139696" y="3090672"/>
            <a:ext cx="27432" cy="429768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rg box"/>
          <p:cNvSpPr/>
          <p:nvPr/>
        </p:nvSpPr>
        <p:spPr>
          <a:xfrm>
            <a:off x="822960" y="3520440"/>
            <a:ext cx="265176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51A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520440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ptos"/>
              </a:rPr>
              <a:t>Unison Enviro(UEPL)</a:t>
            </a:r>
          </a:p>
        </p:txBody>
      </p:sp>
      <p:sp>
        <p:nvSpPr>
          <p:cNvPr id="20" name="Connector"/>
          <p:cNvSpPr/>
          <p:nvPr/>
        </p:nvSpPr>
        <p:spPr>
          <a:xfrm>
            <a:off x="6089904" y="2130552"/>
            <a:ext cx="27432" cy="32004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rg box"/>
          <p:cNvSpPr/>
          <p:nvPr/>
        </p:nvSpPr>
        <p:spPr>
          <a:xfrm>
            <a:off x="4636008" y="2450592"/>
            <a:ext cx="2926080" cy="640080"/>
          </a:xfrm>
          <a:prstGeom prst="rect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con circle chart-up"/>
          <p:cNvSpPr/>
          <p:nvPr/>
        </p:nvSpPr>
        <p:spPr>
          <a:xfrm>
            <a:off x="4745736" y="2551176"/>
            <a:ext cx="438912" cy="438912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art-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074" y="2656514"/>
            <a:ext cx="228234" cy="2282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76088" y="245059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Strategic Investment</a:t>
            </a:r>
          </a:p>
        </p:txBody>
      </p:sp>
      <p:sp>
        <p:nvSpPr>
          <p:cNvPr id="25" name="Connector"/>
          <p:cNvSpPr/>
          <p:nvPr/>
        </p:nvSpPr>
        <p:spPr>
          <a:xfrm>
            <a:off x="6089904" y="3090672"/>
            <a:ext cx="27432" cy="429768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rg box"/>
          <p:cNvSpPr/>
          <p:nvPr/>
        </p:nvSpPr>
        <p:spPr>
          <a:xfrm>
            <a:off x="4773168" y="3520440"/>
            <a:ext cx="265176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51A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3520440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ptos"/>
              </a:rPr>
              <a:t>3ev Industries Pvt. Ltd.</a:t>
            </a:r>
          </a:p>
        </p:txBody>
      </p:sp>
      <p:sp>
        <p:nvSpPr>
          <p:cNvPr id="28" name="Connector"/>
          <p:cNvSpPr/>
          <p:nvPr/>
        </p:nvSpPr>
        <p:spPr>
          <a:xfrm>
            <a:off x="10040112" y="2130552"/>
            <a:ext cx="27432" cy="32004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rg box"/>
          <p:cNvSpPr/>
          <p:nvPr/>
        </p:nvSpPr>
        <p:spPr>
          <a:xfrm>
            <a:off x="8586216" y="2450592"/>
            <a:ext cx="2926080" cy="640080"/>
          </a:xfrm>
          <a:prstGeom prst="rect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con circle layers"/>
          <p:cNvSpPr/>
          <p:nvPr/>
        </p:nvSpPr>
        <p:spPr>
          <a:xfrm>
            <a:off x="8695944" y="2551176"/>
            <a:ext cx="438912" cy="438912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282" y="2656514"/>
            <a:ext cx="228234" cy="22823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226296" y="245059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Joint Ventures</a:t>
            </a:r>
          </a:p>
        </p:txBody>
      </p:sp>
      <p:sp>
        <p:nvSpPr>
          <p:cNvPr id="33" name="Connector"/>
          <p:cNvSpPr/>
          <p:nvPr/>
        </p:nvSpPr>
        <p:spPr>
          <a:xfrm>
            <a:off x="10040112" y="3090672"/>
            <a:ext cx="27432" cy="429768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rg box"/>
          <p:cNvSpPr/>
          <p:nvPr/>
        </p:nvSpPr>
        <p:spPr>
          <a:xfrm>
            <a:off x="8723376" y="3520440"/>
            <a:ext cx="265176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51A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69096" y="3520440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ptos"/>
              </a:rPr>
              <a:t>Mahanagar LNG Pvt. Ltd. (MLPL)</a:t>
            </a:r>
          </a:p>
        </p:txBody>
      </p:sp>
      <p:sp>
        <p:nvSpPr>
          <p:cNvPr id="36" name="Connector"/>
          <p:cNvSpPr/>
          <p:nvPr/>
        </p:nvSpPr>
        <p:spPr>
          <a:xfrm>
            <a:off x="10040112" y="4178808"/>
            <a:ext cx="27432" cy="256032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rg box"/>
          <p:cNvSpPr/>
          <p:nvPr/>
        </p:nvSpPr>
        <p:spPr>
          <a:xfrm>
            <a:off x="8723376" y="4434840"/>
            <a:ext cx="265176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51A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69096" y="4434840"/>
            <a:ext cx="2560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ptos"/>
              </a:rPr>
              <a:t>IBC India (IBCIPL)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Company Overview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8" name="Card"/>
          <p:cNvSpPr/>
          <p:nvPr/>
        </p:nvSpPr>
        <p:spPr>
          <a:xfrm>
            <a:off x="822960" y="1188720"/>
            <a:ext cx="338328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con circle chart-up"/>
          <p:cNvSpPr/>
          <p:nvPr/>
        </p:nvSpPr>
        <p:spPr>
          <a:xfrm>
            <a:off x="950976" y="1476756"/>
            <a:ext cx="475488" cy="475488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3" y="1590873"/>
            <a:ext cx="247253" cy="24725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45336" y="1252728"/>
            <a:ext cx="2569464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0067B2"/>
                </a:solidFill>
                <a:latin typeface="Aptos"/>
              </a:rPr>
              <a:t>4.54 MMSCMD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1673352"/>
            <a:ext cx="2569464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Aptos"/>
              </a:rPr>
              <a:t>Average Sales¹</a:t>
            </a:r>
          </a:p>
        </p:txBody>
      </p:sp>
      <p:sp>
        <p:nvSpPr>
          <p:cNvPr id="13" name="Card"/>
          <p:cNvSpPr/>
          <p:nvPr/>
        </p:nvSpPr>
        <p:spPr>
          <a:xfrm>
            <a:off x="4407408" y="1188720"/>
            <a:ext cx="338328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con circle bolt"/>
          <p:cNvSpPr/>
          <p:nvPr/>
        </p:nvSpPr>
        <p:spPr>
          <a:xfrm>
            <a:off x="4535424" y="1476756"/>
            <a:ext cx="475488" cy="475488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541" y="1590873"/>
            <a:ext cx="247253" cy="2472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29784" y="1252728"/>
            <a:ext cx="2569463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2F7A17"/>
                </a:solidFill>
                <a:latin typeface="Aptos"/>
              </a:rPr>
              <a:t>5.34 MMSCMD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1673352"/>
            <a:ext cx="2569463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Aptos"/>
              </a:rPr>
              <a:t>Peak Sales · September 2026</a:t>
            </a:r>
          </a:p>
        </p:txBody>
      </p:sp>
      <p:sp>
        <p:nvSpPr>
          <p:cNvPr id="18" name="Card"/>
          <p:cNvSpPr/>
          <p:nvPr/>
        </p:nvSpPr>
        <p:spPr>
          <a:xfrm>
            <a:off x="7991856" y="1188720"/>
            <a:ext cx="3374136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con circle ship"/>
          <p:cNvSpPr/>
          <p:nvPr/>
        </p:nvSpPr>
        <p:spPr>
          <a:xfrm>
            <a:off x="8119872" y="1476756"/>
            <a:ext cx="475488" cy="475488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3989" y="1590873"/>
            <a:ext cx="247253" cy="24725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714232" y="1252728"/>
            <a:ext cx="2560319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ptos"/>
              </a:rPr>
              <a:t>Gas Sourcing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1673352"/>
            <a:ext cx="2560319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Aptos"/>
              </a:rPr>
              <a:t>Mix of Domestic, Term and Spot gas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514600"/>
            <a:ext cx="10543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ptos"/>
              </a:rPr>
              <a:t>Financial Metrics FY 26* (in INR Cr.)</a:t>
            </a:r>
          </a:p>
        </p:txBody>
      </p:sp>
      <p:sp>
        <p:nvSpPr>
          <p:cNvPr id="24" name="Card"/>
          <p:cNvSpPr/>
          <p:nvPr/>
        </p:nvSpPr>
        <p:spPr>
          <a:xfrm>
            <a:off x="822960" y="2880360"/>
            <a:ext cx="2551176" cy="25146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con circle rupee"/>
          <p:cNvSpPr/>
          <p:nvPr/>
        </p:nvSpPr>
        <p:spPr>
          <a:xfrm>
            <a:off x="1005840" y="3063240"/>
            <a:ext cx="640080" cy="640080"/>
          </a:xfrm>
          <a:prstGeom prst="ellipse">
            <a:avLst/>
          </a:prstGeom>
          <a:solidFill>
            <a:srgbClr val="FC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up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459" y="3216859"/>
            <a:ext cx="332841" cy="33284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05840" y="393192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CB000"/>
                </a:solidFill>
                <a:latin typeface="Aptos"/>
              </a:rPr>
              <a:t>8,240²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6634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Aptos"/>
              </a:rPr>
              <a:t>Revenue</a:t>
            </a:r>
          </a:p>
        </p:txBody>
      </p:sp>
      <p:sp>
        <p:nvSpPr>
          <p:cNvPr id="29" name="Card"/>
          <p:cNvSpPr/>
          <p:nvPr/>
        </p:nvSpPr>
        <p:spPr>
          <a:xfrm>
            <a:off x="3511296" y="2880360"/>
            <a:ext cx="2551176" cy="25146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con circle buildings"/>
          <p:cNvSpPr/>
          <p:nvPr/>
        </p:nvSpPr>
        <p:spPr>
          <a:xfrm>
            <a:off x="3694176" y="3063240"/>
            <a:ext cx="640080" cy="64008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uildin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7795" y="3216859"/>
            <a:ext cx="332841" cy="33284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94176" y="393192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Aptos"/>
              </a:rPr>
              <a:t>7,135²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94176" y="46634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Aptos"/>
              </a:rPr>
              <a:t>Fixed Asset</a:t>
            </a:r>
          </a:p>
        </p:txBody>
      </p:sp>
      <p:sp>
        <p:nvSpPr>
          <p:cNvPr id="34" name="Card"/>
          <p:cNvSpPr/>
          <p:nvPr/>
        </p:nvSpPr>
        <p:spPr>
          <a:xfrm>
            <a:off x="6199632" y="2880360"/>
            <a:ext cx="2551176" cy="25146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con circle chart-up"/>
          <p:cNvSpPr/>
          <p:nvPr/>
        </p:nvSpPr>
        <p:spPr>
          <a:xfrm>
            <a:off x="6382512" y="3063240"/>
            <a:ext cx="640080" cy="64008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hart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131" y="3216859"/>
            <a:ext cx="332841" cy="33284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382512" y="393192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51AD30"/>
                </a:solidFill>
                <a:latin typeface="Aptos"/>
              </a:rPr>
              <a:t>847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46634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Aptos"/>
              </a:rPr>
              <a:t>PAT</a:t>
            </a:r>
          </a:p>
        </p:txBody>
      </p:sp>
      <p:sp>
        <p:nvSpPr>
          <p:cNvPr id="39" name="Card"/>
          <p:cNvSpPr/>
          <p:nvPr/>
        </p:nvSpPr>
        <p:spPr>
          <a:xfrm>
            <a:off x="8887968" y="2880360"/>
            <a:ext cx="2551176" cy="25146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con circle pie"/>
          <p:cNvSpPr/>
          <p:nvPr/>
        </p:nvSpPr>
        <p:spPr>
          <a:xfrm>
            <a:off x="9070848" y="3063240"/>
            <a:ext cx="640080" cy="640080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i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4467" y="3216859"/>
            <a:ext cx="332841" cy="33284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070848" y="393192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067B2"/>
                </a:solidFill>
                <a:latin typeface="Aptos"/>
              </a:rPr>
              <a:t>10,882³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0848" y="46634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Aptos"/>
              </a:rPr>
              <a:t>Market Cap</a:t>
            </a:r>
          </a:p>
        </p:txBody>
      </p:sp>
      <p:sp>
        <p:nvSpPr>
          <p:cNvPr id="44" name="Source"/>
          <p:cNvSpPr txBox="1"/>
          <p:nvPr/>
        </p:nvSpPr>
        <p:spPr>
          <a:xfrm>
            <a:off x="822960" y="5715000"/>
            <a:ext cx="10085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E6E6E"/>
                </a:solidFill>
                <a:latin typeface="Aptos"/>
              </a:rPr>
              <a:t>(1) Sales Volume is April to August  FY 2026-27 annual average   (2) Fixed Assets is as on 31st March 2025 and Revenue from operations (Net) excluding Other Income   (3) Market Cap as on September 09,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Area of Operation &amp; Infrastructure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pic>
        <p:nvPicPr>
          <p:cNvPr id="8" name="Chart image" descr="map-maharash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14309"/>
            <a:ext cx="3840480" cy="2554860"/>
          </a:xfrm>
          <a:prstGeom prst="rect">
            <a:avLst/>
          </a:prstGeom>
        </p:spPr>
      </p:pic>
      <p:pic>
        <p:nvPicPr>
          <p:cNvPr id="9" name="Chart image" descr="map-karnata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484" y="3703320"/>
            <a:ext cx="1928150" cy="2011680"/>
          </a:xfrm>
          <a:prstGeom prst="rect">
            <a:avLst/>
          </a:prstGeom>
        </p:spPr>
      </p:pic>
      <p:sp>
        <p:nvSpPr>
          <p:cNvPr id="10" name="Legend"/>
          <p:cNvSpPr/>
          <p:nvPr/>
        </p:nvSpPr>
        <p:spPr>
          <a:xfrm>
            <a:off x="3429000" y="4572000"/>
            <a:ext cx="182880" cy="18288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4535424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Aptos"/>
              </a:rPr>
              <a:t>MGL’s existing Geographical Areas (GA)</a:t>
            </a:r>
          </a:p>
        </p:txBody>
      </p:sp>
      <p:sp>
        <p:nvSpPr>
          <p:cNvPr id="12" name="Legend"/>
          <p:cNvSpPr/>
          <p:nvPr/>
        </p:nvSpPr>
        <p:spPr>
          <a:xfrm>
            <a:off x="3429000" y="5074920"/>
            <a:ext cx="182880" cy="182880"/>
          </a:xfrm>
          <a:prstGeom prst="ellipse">
            <a:avLst/>
          </a:prstGeom>
          <a:solidFill>
            <a:srgbClr val="A65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5038344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Aptos"/>
              </a:rPr>
              <a:t>GAs of erstwhile UEPL</a:t>
            </a:r>
          </a:p>
        </p:txBody>
      </p:sp>
      <p:sp>
        <p:nvSpPr>
          <p:cNvPr id="14" name="Card"/>
          <p:cNvSpPr/>
          <p:nvPr/>
        </p:nvSpPr>
        <p:spPr>
          <a:xfrm>
            <a:off x="5486400" y="1188720"/>
            <a:ext cx="2884932" cy="1353312"/>
          </a:xfrm>
          <a:prstGeom prst="rect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con circle layers"/>
          <p:cNvSpPr/>
          <p:nvPr/>
        </p:nvSpPr>
        <p:spPr>
          <a:xfrm>
            <a:off x="5614416" y="1316736"/>
            <a:ext cx="420624" cy="420624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365" y="1417685"/>
            <a:ext cx="218724" cy="2187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14416" y="1792224"/>
            <a:ext cx="26563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Aptos"/>
              </a:rPr>
              <a:t>45,691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4416" y="2139696"/>
            <a:ext cx="26563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Aptos"/>
              </a:rPr>
              <a:t>Area (sq Km)</a:t>
            </a:r>
          </a:p>
        </p:txBody>
      </p:sp>
      <p:sp>
        <p:nvSpPr>
          <p:cNvPr id="19" name="Card"/>
          <p:cNvSpPr/>
          <p:nvPr/>
        </p:nvSpPr>
        <p:spPr>
          <a:xfrm>
            <a:off x="8481060" y="1188720"/>
            <a:ext cx="2884932" cy="1353312"/>
          </a:xfrm>
          <a:prstGeom prst="rect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con circle home"/>
          <p:cNvSpPr/>
          <p:nvPr/>
        </p:nvSpPr>
        <p:spPr>
          <a:xfrm>
            <a:off x="8609076" y="1316736"/>
            <a:ext cx="420624" cy="420624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0025" y="1417685"/>
            <a:ext cx="218724" cy="2187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09076" y="1792224"/>
            <a:ext cx="26563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Aptos"/>
              </a:rPr>
              <a:t>47,96,180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9076" y="2139696"/>
            <a:ext cx="26563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Aptos"/>
              </a:rPr>
              <a:t>Urban Households</a:t>
            </a:r>
          </a:p>
        </p:txBody>
      </p:sp>
      <p:sp>
        <p:nvSpPr>
          <p:cNvPr id="24" name="Card"/>
          <p:cNvSpPr/>
          <p:nvPr/>
        </p:nvSpPr>
        <p:spPr>
          <a:xfrm>
            <a:off x="5486400" y="2670048"/>
            <a:ext cx="1387601" cy="13533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con circle fuel-pump"/>
          <p:cNvSpPr/>
          <p:nvPr/>
        </p:nvSpPr>
        <p:spPr>
          <a:xfrm>
            <a:off x="5614416" y="2798064"/>
            <a:ext cx="420624" cy="420624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uel-pum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365" y="2899013"/>
            <a:ext cx="218724" cy="21872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14416" y="3273552"/>
            <a:ext cx="115900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ptos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4416" y="3621024"/>
            <a:ext cx="115900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Aptos"/>
              </a:rPr>
              <a:t>CGS &amp; LNG Station (No)</a:t>
            </a:r>
          </a:p>
        </p:txBody>
      </p:sp>
      <p:sp>
        <p:nvSpPr>
          <p:cNvPr id="29" name="Card"/>
          <p:cNvSpPr/>
          <p:nvPr/>
        </p:nvSpPr>
        <p:spPr>
          <a:xfrm>
            <a:off x="6983729" y="2670048"/>
            <a:ext cx="1387601" cy="13533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con circle fuel-pump"/>
          <p:cNvSpPr/>
          <p:nvPr/>
        </p:nvSpPr>
        <p:spPr>
          <a:xfrm>
            <a:off x="7111745" y="2798064"/>
            <a:ext cx="420624" cy="420624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uel-pum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695" y="2899013"/>
            <a:ext cx="218724" cy="21872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11745" y="3273552"/>
            <a:ext cx="115900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ptos"/>
              </a:rPr>
              <a:t>522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1745" y="3621024"/>
            <a:ext cx="115900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Aptos"/>
              </a:rPr>
              <a:t>CNG Stations (No)</a:t>
            </a:r>
          </a:p>
        </p:txBody>
      </p:sp>
      <p:sp>
        <p:nvSpPr>
          <p:cNvPr id="34" name="Card"/>
          <p:cNvSpPr/>
          <p:nvPr/>
        </p:nvSpPr>
        <p:spPr>
          <a:xfrm>
            <a:off x="8481059" y="2670048"/>
            <a:ext cx="1387601" cy="13533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con circle network"/>
          <p:cNvSpPr/>
          <p:nvPr/>
        </p:nvSpPr>
        <p:spPr>
          <a:xfrm>
            <a:off x="8609076" y="2798064"/>
            <a:ext cx="420624" cy="420624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netwo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0025" y="2899013"/>
            <a:ext cx="218724" cy="21872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609076" y="3273552"/>
            <a:ext cx="115900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ptos"/>
              </a:rPr>
              <a:t>759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09076" y="3621024"/>
            <a:ext cx="115900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Aptos"/>
              </a:rPr>
              <a:t>Steel Pipeline Length (Km)</a:t>
            </a:r>
          </a:p>
        </p:txBody>
      </p:sp>
      <p:sp>
        <p:nvSpPr>
          <p:cNvPr id="39" name="Card"/>
          <p:cNvSpPr/>
          <p:nvPr/>
        </p:nvSpPr>
        <p:spPr>
          <a:xfrm>
            <a:off x="9978390" y="2670048"/>
            <a:ext cx="1387601" cy="13533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con circle network"/>
          <p:cNvSpPr/>
          <p:nvPr/>
        </p:nvSpPr>
        <p:spPr>
          <a:xfrm>
            <a:off x="10106406" y="2798064"/>
            <a:ext cx="420624" cy="420624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netwo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7355" y="2899013"/>
            <a:ext cx="218724" cy="21872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106406" y="3273552"/>
            <a:ext cx="115900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ptos"/>
              </a:rPr>
              <a:t>7,757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6406" y="3621024"/>
            <a:ext cx="115900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Aptos"/>
              </a:rPr>
              <a:t>PE Pipeline Length (Km)</a:t>
            </a:r>
          </a:p>
        </p:txBody>
      </p:sp>
      <p:sp>
        <p:nvSpPr>
          <p:cNvPr id="44" name="Card"/>
          <p:cNvSpPr/>
          <p:nvPr/>
        </p:nvSpPr>
        <p:spPr>
          <a:xfrm>
            <a:off x="5486400" y="4151376"/>
            <a:ext cx="1886711" cy="13533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con circle bus"/>
          <p:cNvSpPr/>
          <p:nvPr/>
        </p:nvSpPr>
        <p:spPr>
          <a:xfrm>
            <a:off x="5614416" y="4279392"/>
            <a:ext cx="420624" cy="420624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u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365" y="4380341"/>
            <a:ext cx="218724" cy="21872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614416" y="4754880"/>
            <a:ext cx="1658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Aptos"/>
              </a:rPr>
              <a:t>13,30,819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14416" y="5102352"/>
            <a:ext cx="1658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Aptos"/>
              </a:rPr>
              <a:t>CNG Vehicles (No)</a:t>
            </a:r>
          </a:p>
        </p:txBody>
      </p:sp>
      <p:sp>
        <p:nvSpPr>
          <p:cNvPr id="49" name="Card"/>
          <p:cNvSpPr/>
          <p:nvPr/>
        </p:nvSpPr>
        <p:spPr>
          <a:xfrm>
            <a:off x="7482840" y="4151376"/>
            <a:ext cx="1886711" cy="13533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con circle home"/>
          <p:cNvSpPr/>
          <p:nvPr/>
        </p:nvSpPr>
        <p:spPr>
          <a:xfrm>
            <a:off x="7610856" y="4279392"/>
            <a:ext cx="420624" cy="420624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1805" y="4380341"/>
            <a:ext cx="218724" cy="21872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610856" y="4754880"/>
            <a:ext cx="1658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Aptos"/>
              </a:rPr>
              <a:t>32,61,514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10856" y="5102352"/>
            <a:ext cx="1658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Aptos"/>
              </a:rPr>
              <a:t>PNG Household Connections</a:t>
            </a:r>
          </a:p>
        </p:txBody>
      </p:sp>
      <p:sp>
        <p:nvSpPr>
          <p:cNvPr id="54" name="Card"/>
          <p:cNvSpPr/>
          <p:nvPr/>
        </p:nvSpPr>
        <p:spPr>
          <a:xfrm>
            <a:off x="9479280" y="4151376"/>
            <a:ext cx="1886711" cy="13533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con circle factory"/>
          <p:cNvSpPr/>
          <p:nvPr/>
        </p:nvSpPr>
        <p:spPr>
          <a:xfrm>
            <a:off x="9607296" y="4279392"/>
            <a:ext cx="420624" cy="420624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facto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8245" y="4380341"/>
            <a:ext cx="218724" cy="21872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607296" y="4754880"/>
            <a:ext cx="1658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Aptos"/>
              </a:rPr>
              <a:t>6,307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7296" y="5102352"/>
            <a:ext cx="1658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Aptos"/>
              </a:rPr>
              <a:t>Industrial Commercial Customers</a:t>
            </a:r>
          </a:p>
        </p:txBody>
      </p:sp>
      <p:sp>
        <p:nvSpPr>
          <p:cNvPr id="59" name="Source"/>
          <p:cNvSpPr txBox="1"/>
          <p:nvPr/>
        </p:nvSpPr>
        <p:spPr>
          <a:xfrm>
            <a:off x="822960" y="6144768"/>
            <a:ext cx="10085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E6E6E"/>
                </a:solidFill>
                <a:latin typeface="Aptos"/>
              </a:rPr>
              <a:t>Note: Data till  31st 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From network expansion to integrated operations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8" name="Card"/>
          <p:cNvSpPr/>
          <p:nvPr/>
        </p:nvSpPr>
        <p:spPr>
          <a:xfrm>
            <a:off x="822960" y="914400"/>
            <a:ext cx="1427770" cy="658368"/>
          </a:xfrm>
          <a:prstGeom prst="rect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950976"/>
            <a:ext cx="12906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234440"/>
            <a:ext cx="129061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  <a:latin typeface="Aptos"/>
              </a:rPr>
              <a:t>CGS &amp; LNG Station (No)</a:t>
            </a:r>
          </a:p>
        </p:txBody>
      </p:sp>
      <p:sp>
        <p:nvSpPr>
          <p:cNvPr id="11" name="Card"/>
          <p:cNvSpPr/>
          <p:nvPr/>
        </p:nvSpPr>
        <p:spPr>
          <a:xfrm>
            <a:off x="2342170" y="914400"/>
            <a:ext cx="1427770" cy="658368"/>
          </a:xfrm>
          <a:prstGeom prst="rect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3610" y="950976"/>
            <a:ext cx="12906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ptos"/>
              </a:rPr>
              <a:t>522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3610" y="1234440"/>
            <a:ext cx="129061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  <a:latin typeface="Aptos"/>
              </a:rPr>
              <a:t>CNG Stations (No)</a:t>
            </a:r>
          </a:p>
        </p:txBody>
      </p:sp>
      <p:sp>
        <p:nvSpPr>
          <p:cNvPr id="14" name="Card"/>
          <p:cNvSpPr/>
          <p:nvPr/>
        </p:nvSpPr>
        <p:spPr>
          <a:xfrm>
            <a:off x="3861380" y="914400"/>
            <a:ext cx="1427770" cy="658368"/>
          </a:xfrm>
          <a:prstGeom prst="rect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2820" y="950976"/>
            <a:ext cx="12906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ptos"/>
              </a:rPr>
              <a:t>759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2820" y="1234440"/>
            <a:ext cx="129061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  <a:latin typeface="Aptos"/>
              </a:rPr>
              <a:t>Steel Pipeline Length (Km)</a:t>
            </a:r>
          </a:p>
        </p:txBody>
      </p:sp>
      <p:sp>
        <p:nvSpPr>
          <p:cNvPr id="17" name="Card"/>
          <p:cNvSpPr/>
          <p:nvPr/>
        </p:nvSpPr>
        <p:spPr>
          <a:xfrm>
            <a:off x="5380590" y="914400"/>
            <a:ext cx="1427770" cy="658368"/>
          </a:xfrm>
          <a:prstGeom prst="rect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72030" y="950976"/>
            <a:ext cx="12906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ptos"/>
              </a:rPr>
              <a:t>7,757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2030" y="1234440"/>
            <a:ext cx="129061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  <a:latin typeface="Aptos"/>
              </a:rPr>
              <a:t>PE Pipeline Length (Km)</a:t>
            </a:r>
          </a:p>
        </p:txBody>
      </p:sp>
      <p:sp>
        <p:nvSpPr>
          <p:cNvPr id="20" name="Card"/>
          <p:cNvSpPr/>
          <p:nvPr/>
        </p:nvSpPr>
        <p:spPr>
          <a:xfrm>
            <a:off x="6899801" y="914400"/>
            <a:ext cx="1427770" cy="658368"/>
          </a:xfrm>
          <a:prstGeom prst="rect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1241" y="950976"/>
            <a:ext cx="12906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ptos"/>
              </a:rPr>
              <a:t>13,30,819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1241" y="1234440"/>
            <a:ext cx="129061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  <a:latin typeface="Aptos"/>
              </a:rPr>
              <a:t>CNG Vehicles (No)</a:t>
            </a:r>
          </a:p>
        </p:txBody>
      </p:sp>
      <p:sp>
        <p:nvSpPr>
          <p:cNvPr id="23" name="Card"/>
          <p:cNvSpPr/>
          <p:nvPr/>
        </p:nvSpPr>
        <p:spPr>
          <a:xfrm>
            <a:off x="8419011" y="914400"/>
            <a:ext cx="1427770" cy="658368"/>
          </a:xfrm>
          <a:prstGeom prst="rect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10451" y="950976"/>
            <a:ext cx="12906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ptos"/>
              </a:rPr>
              <a:t>32,61,514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0451" y="1234440"/>
            <a:ext cx="129061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  <a:latin typeface="Aptos"/>
              </a:rPr>
              <a:t>PNG Household Connections</a:t>
            </a:r>
          </a:p>
        </p:txBody>
      </p:sp>
      <p:sp>
        <p:nvSpPr>
          <p:cNvPr id="26" name="Card"/>
          <p:cNvSpPr/>
          <p:nvPr/>
        </p:nvSpPr>
        <p:spPr>
          <a:xfrm>
            <a:off x="9938221" y="914400"/>
            <a:ext cx="1427770" cy="658368"/>
          </a:xfrm>
          <a:prstGeom prst="rect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9661" y="950976"/>
            <a:ext cx="12906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ptos"/>
              </a:rPr>
              <a:t>6,307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29661" y="1234440"/>
            <a:ext cx="129061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  <a:latin typeface="Aptos"/>
              </a:rPr>
              <a:t>Industrial Commercial Customers</a:t>
            </a:r>
          </a:p>
        </p:txBody>
      </p:sp>
      <p:sp>
        <p:nvSpPr>
          <p:cNvPr id="29" name="Card"/>
          <p:cNvSpPr/>
          <p:nvPr/>
        </p:nvSpPr>
        <p:spPr>
          <a:xfrm>
            <a:off x="822960" y="1691640"/>
            <a:ext cx="3246120" cy="4343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con circle network"/>
          <p:cNvSpPr/>
          <p:nvPr/>
        </p:nvSpPr>
        <p:spPr>
          <a:xfrm>
            <a:off x="932688" y="1783080"/>
            <a:ext cx="384048" cy="384048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59" y="1875251"/>
            <a:ext cx="199704" cy="19970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89888" y="1783080"/>
            <a:ext cx="2606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Aptos"/>
              </a:rPr>
              <a:t>Integrated Command &amp; Control Centre - Mahape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22402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404040"/>
                </a:solidFill>
                <a:latin typeface="Aptos"/>
              </a:rPr>
              <a:t>MGL moved from individual systems to an integrated operational view.</a:t>
            </a:r>
          </a:p>
        </p:txBody>
      </p:sp>
      <p:sp>
        <p:nvSpPr>
          <p:cNvPr id="34" name="Chip"/>
          <p:cNvSpPr/>
          <p:nvPr/>
        </p:nvSpPr>
        <p:spPr>
          <a:xfrm>
            <a:off x="960120" y="2651760"/>
            <a:ext cx="9326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2651760"/>
            <a:ext cx="9326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0067B2"/>
                </a:solidFill>
                <a:latin typeface="Aptos"/>
              </a:rPr>
              <a:t>SCADA</a:t>
            </a:r>
          </a:p>
        </p:txBody>
      </p:sp>
      <p:sp>
        <p:nvSpPr>
          <p:cNvPr id="36" name="Chip"/>
          <p:cNvSpPr/>
          <p:nvPr/>
        </p:nvSpPr>
        <p:spPr>
          <a:xfrm>
            <a:off x="1965960" y="2651760"/>
            <a:ext cx="9326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65960" y="2651760"/>
            <a:ext cx="9326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0067B2"/>
                </a:solidFill>
                <a:latin typeface="Aptos"/>
              </a:rPr>
              <a:t>GIS</a:t>
            </a:r>
          </a:p>
        </p:txBody>
      </p:sp>
      <p:sp>
        <p:nvSpPr>
          <p:cNvPr id="38" name="Chip"/>
          <p:cNvSpPr/>
          <p:nvPr/>
        </p:nvSpPr>
        <p:spPr>
          <a:xfrm>
            <a:off x="2971800" y="2651760"/>
            <a:ext cx="9326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71800" y="2651760"/>
            <a:ext cx="9326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0067B2"/>
                </a:solidFill>
                <a:latin typeface="Aptos"/>
              </a:rPr>
              <a:t>IVMS</a:t>
            </a:r>
          </a:p>
        </p:txBody>
      </p:sp>
      <p:sp>
        <p:nvSpPr>
          <p:cNvPr id="40" name="Chip"/>
          <p:cNvSpPr/>
          <p:nvPr/>
        </p:nvSpPr>
        <p:spPr>
          <a:xfrm>
            <a:off x="960120" y="3108960"/>
            <a:ext cx="9326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3108960"/>
            <a:ext cx="9326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0067B2"/>
                </a:solidFill>
                <a:latin typeface="Aptos"/>
              </a:rPr>
              <a:t>CNG Transport Software</a:t>
            </a:r>
          </a:p>
        </p:txBody>
      </p:sp>
      <p:sp>
        <p:nvSpPr>
          <p:cNvPr id="42" name="Chip"/>
          <p:cNvSpPr/>
          <p:nvPr/>
        </p:nvSpPr>
        <p:spPr>
          <a:xfrm>
            <a:off x="1965960" y="3108960"/>
            <a:ext cx="9326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65960" y="3108960"/>
            <a:ext cx="9326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0067B2"/>
                </a:solidFill>
                <a:latin typeface="Aptos"/>
              </a:rPr>
              <a:t>Forecourt Automation</a:t>
            </a:r>
          </a:p>
        </p:txBody>
      </p:sp>
      <p:sp>
        <p:nvSpPr>
          <p:cNvPr id="44" name="Chip"/>
          <p:cNvSpPr/>
          <p:nvPr/>
        </p:nvSpPr>
        <p:spPr>
          <a:xfrm>
            <a:off x="2971800" y="3108960"/>
            <a:ext cx="9326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1800" y="3108960"/>
            <a:ext cx="9326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0067B2"/>
                </a:solidFill>
                <a:latin typeface="Aptos"/>
              </a:rPr>
              <a:t>AMR</a:t>
            </a:r>
          </a:p>
        </p:txBody>
      </p:sp>
      <p:sp>
        <p:nvSpPr>
          <p:cNvPr id="46" name="Chip"/>
          <p:cNvSpPr/>
          <p:nvPr/>
        </p:nvSpPr>
        <p:spPr>
          <a:xfrm>
            <a:off x="960120" y="3639312"/>
            <a:ext cx="2971800" cy="292608"/>
          </a:xfrm>
          <a:prstGeom prst="rect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3639312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ICCC enables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4023360"/>
            <a:ext cx="14630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har char="•"/>
            </a:pPr>
            <a:r>
              <a:rPr sz="800" b="0" i="0">
                <a:solidFill>
                  <a:srgbClr val="000000"/>
                </a:solidFill>
                <a:latin typeface="Aptos"/>
              </a:rPr>
              <a:t/>
            </a:r>
            <a:r>
              <a:rPr sz="800" b="0">
                <a:solidFill>
                  <a:srgbClr val="000000"/>
                </a:solidFill>
                <a:latin typeface="Aptos"/>
              </a:rPr>
              <a:t>Centralised monitoring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800" b="0">
                <a:solidFill>
                  <a:srgbClr val="000000"/>
                </a:solidFill>
                <a:latin typeface="Aptos"/>
              </a:rPr>
              <a:t>Faster emergency response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800" b="0">
                <a:solidFill>
                  <a:srgbClr val="000000"/>
                </a:solidFill>
                <a:latin typeface="Aptos"/>
              </a:rPr>
              <a:t>Resource mobilisation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800" b="0">
                <a:solidFill>
                  <a:srgbClr val="000000"/>
                </a:solidFill>
                <a:latin typeface="Aptos"/>
              </a:rPr>
              <a:t>Outage management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68880" y="4023360"/>
            <a:ext cx="15087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har char="•"/>
            </a:pPr>
            <a:r>
              <a:rPr sz="800" b="0" i="0">
                <a:solidFill>
                  <a:srgbClr val="000000"/>
                </a:solidFill>
                <a:latin typeface="Aptos"/>
              </a:rPr>
              <a:t/>
            </a:r>
            <a:r>
              <a:rPr sz="800" b="0">
                <a:solidFill>
                  <a:srgbClr val="000000"/>
                </a:solidFill>
                <a:latin typeface="Aptos"/>
              </a:rPr>
              <a:t>Nearest emergency response team identification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800" b="0">
                <a:solidFill>
                  <a:srgbClr val="000000"/>
                </a:solidFill>
                <a:latin typeface="Aptos"/>
              </a:rPr>
              <a:t>Operational dashboards and analytics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800" b="0">
                <a:solidFill>
                  <a:srgbClr val="000000"/>
                </a:solidFill>
                <a:latin typeface="Aptos"/>
              </a:rPr>
              <a:t>Future SAP integration for maintenance planning and expenditure management</a:t>
            </a:r>
          </a:p>
        </p:txBody>
      </p:sp>
      <p:sp>
        <p:nvSpPr>
          <p:cNvPr id="50" name="Row label"/>
          <p:cNvSpPr/>
          <p:nvPr/>
        </p:nvSpPr>
        <p:spPr>
          <a:xfrm>
            <a:off x="4206240" y="1691640"/>
            <a:ext cx="1188720" cy="1353312"/>
          </a:xfrm>
          <a:prstGeom prst="rect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con circle network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984248"/>
            <a:ext cx="237744" cy="23774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206240" y="24414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Projects</a:t>
            </a:r>
          </a:p>
        </p:txBody>
      </p:sp>
      <p:sp>
        <p:nvSpPr>
          <p:cNvPr id="54" name="Card"/>
          <p:cNvSpPr/>
          <p:nvPr/>
        </p:nvSpPr>
        <p:spPr>
          <a:xfrm>
            <a:off x="5486400" y="1691640"/>
            <a:ext cx="1898904" cy="13533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ick"/>
          <p:cNvSpPr/>
          <p:nvPr/>
        </p:nvSpPr>
        <p:spPr>
          <a:xfrm>
            <a:off x="5596128" y="1819656"/>
            <a:ext cx="219456" cy="219456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96128" y="2130552"/>
            <a:ext cx="16977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Aptos"/>
              </a:rPr>
              <a:t>CNG station network scaled from 290 in FY 22 to 500+ in FY 26</a:t>
            </a:r>
          </a:p>
        </p:txBody>
      </p:sp>
      <p:sp>
        <p:nvSpPr>
          <p:cNvPr id="57" name="Card"/>
          <p:cNvSpPr/>
          <p:nvPr/>
        </p:nvSpPr>
        <p:spPr>
          <a:xfrm>
            <a:off x="7476743" y="1691640"/>
            <a:ext cx="1898904" cy="13533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ick"/>
          <p:cNvSpPr/>
          <p:nvPr/>
        </p:nvSpPr>
        <p:spPr>
          <a:xfrm>
            <a:off x="7586471" y="1819656"/>
            <a:ext cx="219456" cy="219456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86471" y="2130552"/>
            <a:ext cx="16977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Aptos"/>
              </a:rPr>
              <a:t>~3.2 Mn DPNG connections, accounting for ~20% of India’s ~16 Mn customer base</a:t>
            </a:r>
          </a:p>
        </p:txBody>
      </p:sp>
      <p:sp>
        <p:nvSpPr>
          <p:cNvPr id="60" name="Card"/>
          <p:cNvSpPr/>
          <p:nvPr/>
        </p:nvSpPr>
        <p:spPr>
          <a:xfrm>
            <a:off x="9467088" y="1691640"/>
            <a:ext cx="1898904" cy="13533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ick"/>
          <p:cNvSpPr/>
          <p:nvPr/>
        </p:nvSpPr>
        <p:spPr>
          <a:xfrm>
            <a:off x="9576816" y="1819656"/>
            <a:ext cx="219456" cy="219456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76816" y="2130552"/>
            <a:ext cx="16977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Aptos"/>
              </a:rPr>
              <a:t>Adoption of MLC1 piping (~25-30% cheaper) and upgradation in metering technologies</a:t>
            </a:r>
          </a:p>
        </p:txBody>
      </p:sp>
      <p:sp>
        <p:nvSpPr>
          <p:cNvPr id="63" name="Row label"/>
          <p:cNvSpPr/>
          <p:nvPr/>
        </p:nvSpPr>
        <p:spPr>
          <a:xfrm>
            <a:off x="4206240" y="3154680"/>
            <a:ext cx="1188720" cy="1353312"/>
          </a:xfrm>
          <a:prstGeom prst="rect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Icon circle bulb"/>
          <p:cNvSpPr/>
          <p:nvPr/>
        </p:nvSpPr>
        <p:spPr>
          <a:xfrm>
            <a:off x="4572000" y="3337560"/>
            <a:ext cx="457200" cy="45720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3447288"/>
            <a:ext cx="237744" cy="237744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206240" y="390448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O&amp;M</a:t>
            </a:r>
          </a:p>
        </p:txBody>
      </p:sp>
      <p:sp>
        <p:nvSpPr>
          <p:cNvPr id="67" name="Card"/>
          <p:cNvSpPr/>
          <p:nvPr/>
        </p:nvSpPr>
        <p:spPr>
          <a:xfrm>
            <a:off x="5486400" y="3154680"/>
            <a:ext cx="1898904" cy="13533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ick"/>
          <p:cNvSpPr/>
          <p:nvPr/>
        </p:nvSpPr>
        <p:spPr>
          <a:xfrm>
            <a:off x="5596128" y="3282696"/>
            <a:ext cx="219456" cy="219456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96128" y="3593592"/>
            <a:ext cx="16977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Aptos"/>
              </a:rPr>
              <a:t>GIS mapping for asset visibility, maintenance and emergency handling</a:t>
            </a:r>
          </a:p>
        </p:txBody>
      </p:sp>
      <p:sp>
        <p:nvSpPr>
          <p:cNvPr id="70" name="Card"/>
          <p:cNvSpPr/>
          <p:nvPr/>
        </p:nvSpPr>
        <p:spPr>
          <a:xfrm>
            <a:off x="7476743" y="3154680"/>
            <a:ext cx="1898904" cy="13533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ick"/>
          <p:cNvSpPr/>
          <p:nvPr/>
        </p:nvSpPr>
        <p:spPr>
          <a:xfrm>
            <a:off x="7586471" y="3282696"/>
            <a:ext cx="219456" cy="219456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86471" y="3593592"/>
            <a:ext cx="16977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Aptos"/>
              </a:rPr>
              <a:t>In-house SCADA + IVMS2 tool to cut dry-outs at daughter booster stations</a:t>
            </a:r>
          </a:p>
        </p:txBody>
      </p:sp>
      <p:sp>
        <p:nvSpPr>
          <p:cNvPr id="73" name="Card"/>
          <p:cNvSpPr/>
          <p:nvPr/>
        </p:nvSpPr>
        <p:spPr>
          <a:xfrm>
            <a:off x="9467088" y="3154680"/>
            <a:ext cx="1898904" cy="13533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ick"/>
          <p:cNvSpPr/>
          <p:nvPr/>
        </p:nvSpPr>
        <p:spPr>
          <a:xfrm>
            <a:off x="9576816" y="3282696"/>
            <a:ext cx="219456" cy="219456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76816" y="3593592"/>
            <a:ext cx="16977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Aptos"/>
              </a:rPr>
              <a:t>Powering COCO CNG stations through renewable energy</a:t>
            </a:r>
          </a:p>
        </p:txBody>
      </p:sp>
      <p:sp>
        <p:nvSpPr>
          <p:cNvPr id="76" name="Row label"/>
          <p:cNvSpPr/>
          <p:nvPr/>
        </p:nvSpPr>
        <p:spPr>
          <a:xfrm>
            <a:off x="4206240" y="4617720"/>
            <a:ext cx="1188720" cy="1353312"/>
          </a:xfrm>
          <a:prstGeom prst="rect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Icon circle shield"/>
          <p:cNvSpPr/>
          <p:nvPr/>
        </p:nvSpPr>
        <p:spPr>
          <a:xfrm>
            <a:off x="4572000" y="4800600"/>
            <a:ext cx="457200" cy="45720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4910328"/>
            <a:ext cx="237744" cy="237744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4206240" y="536752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HSE</a:t>
            </a:r>
          </a:p>
        </p:txBody>
      </p:sp>
      <p:sp>
        <p:nvSpPr>
          <p:cNvPr id="80" name="Card"/>
          <p:cNvSpPr/>
          <p:nvPr/>
        </p:nvSpPr>
        <p:spPr>
          <a:xfrm>
            <a:off x="5486400" y="4617720"/>
            <a:ext cx="1898904" cy="13533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ick"/>
          <p:cNvSpPr/>
          <p:nvPr/>
        </p:nvSpPr>
        <p:spPr>
          <a:xfrm>
            <a:off x="5596128" y="4745736"/>
            <a:ext cx="219456" cy="219456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596128" y="5056632"/>
            <a:ext cx="16977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Aptos"/>
              </a:rPr>
              <a:t>Integrated ISO 45001, 14001 &amp; 9001 framework; zero LTIFR3, 96% employees trained in FY25</a:t>
            </a:r>
          </a:p>
        </p:txBody>
      </p:sp>
      <p:sp>
        <p:nvSpPr>
          <p:cNvPr id="83" name="Card"/>
          <p:cNvSpPr/>
          <p:nvPr/>
        </p:nvSpPr>
        <p:spPr>
          <a:xfrm>
            <a:off x="7476743" y="4617720"/>
            <a:ext cx="1898904" cy="13533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ick"/>
          <p:cNvSpPr/>
          <p:nvPr/>
        </p:nvSpPr>
        <p:spPr>
          <a:xfrm>
            <a:off x="7586471" y="4745736"/>
            <a:ext cx="219456" cy="219456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586471" y="5056632"/>
            <a:ext cx="16977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Aptos"/>
              </a:rPr>
              <a:t>“No STC4 No Work”, Dial-before-Dig and near-miss reporting embedded</a:t>
            </a:r>
          </a:p>
        </p:txBody>
      </p:sp>
      <p:sp>
        <p:nvSpPr>
          <p:cNvPr id="86" name="Card"/>
          <p:cNvSpPr/>
          <p:nvPr/>
        </p:nvSpPr>
        <p:spPr>
          <a:xfrm>
            <a:off x="9467088" y="4617720"/>
            <a:ext cx="1898904" cy="13533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ick"/>
          <p:cNvSpPr/>
          <p:nvPr/>
        </p:nvSpPr>
        <p:spPr>
          <a:xfrm>
            <a:off x="9576816" y="4745736"/>
            <a:ext cx="219456" cy="219456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576816" y="5056632"/>
            <a:ext cx="16977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Aptos"/>
              </a:rPr>
              <a:t>Digital safety audits and HIRA / QRA / HAZOP reviews across projects and operations</a:t>
            </a:r>
          </a:p>
        </p:txBody>
      </p:sp>
      <p:sp>
        <p:nvSpPr>
          <p:cNvPr id="89" name="Source"/>
          <p:cNvSpPr txBox="1"/>
          <p:nvPr/>
        </p:nvSpPr>
        <p:spPr>
          <a:xfrm>
            <a:off x="822960" y="6144768"/>
            <a:ext cx="10085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E6E6E"/>
                </a:solidFill>
                <a:latin typeface="Aptos"/>
              </a:rPr>
              <a:t>1. Multi Layer Composite | 2. In Vehicle Monitoring System | 3. Lost Time Injury Frequency Rate | 4. Safety and Technical Competency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digital platform is now ready for the next phase of MGL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8" name="Card"/>
          <p:cNvSpPr/>
          <p:nvPr/>
        </p:nvSpPr>
        <p:spPr>
          <a:xfrm>
            <a:off x="822960" y="914400"/>
            <a:ext cx="3422903" cy="25146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con circle layers"/>
          <p:cNvSpPr/>
          <p:nvPr/>
        </p:nvSpPr>
        <p:spPr>
          <a:xfrm>
            <a:off x="932688" y="1024128"/>
            <a:ext cx="384048" cy="384048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59" y="1116299"/>
            <a:ext cx="199704" cy="19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26464" y="987552"/>
            <a:ext cx="270967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Aptos"/>
              </a:rPr>
              <a:t>Project Utkarsh - RISE with SAP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261872"/>
            <a:ext cx="27096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67B2"/>
                </a:solidFill>
                <a:latin typeface="Aptos"/>
              </a:rPr>
              <a:t>First CGD company in India to implement RISE with SAP on private cloud - SAP ECC 6.0 to SAP S/4HANA.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554480"/>
            <a:ext cx="2709671" cy="1819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1874519"/>
            <a:ext cx="2691383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har char="•"/>
            </a:pPr>
            <a:r>
              <a:rPr sz="850" b="0" i="0">
                <a:solidFill>
                  <a:srgbClr val="000000"/>
                </a:solidFill>
                <a:latin typeface="Aptos"/>
              </a:rPr>
              <a:t/>
            </a:r>
            <a:r>
              <a:rPr sz="850" b="0">
                <a:solidFill>
                  <a:srgbClr val="000000"/>
                </a:solidFill>
                <a:latin typeface="Aptos"/>
              </a:rPr>
              <a:t>Modern enterprise backbone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850" b="0">
                <a:solidFill>
                  <a:srgbClr val="000000"/>
                </a:solidFill>
                <a:latin typeface="Aptos"/>
              </a:rPr>
              <a:t>Reduced IT complexity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850" b="0">
                <a:solidFill>
                  <a:srgbClr val="000000"/>
                </a:solidFill>
                <a:latin typeface="Aptos"/>
              </a:rPr>
              <a:t>Cloud-based scalability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850" b="0">
                <a:solidFill>
                  <a:srgbClr val="000000"/>
                </a:solidFill>
                <a:latin typeface="Aptos"/>
              </a:rPr>
              <a:t>Improved integration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850" b="0">
                <a:solidFill>
                  <a:srgbClr val="000000"/>
                </a:solidFill>
                <a:latin typeface="Aptos"/>
              </a:rPr>
              <a:t>Platform for future expansion and innovation</a:t>
            </a:r>
          </a:p>
        </p:txBody>
      </p:sp>
      <p:sp>
        <p:nvSpPr>
          <p:cNvPr id="15" name="Card"/>
          <p:cNvSpPr/>
          <p:nvPr/>
        </p:nvSpPr>
        <p:spPr>
          <a:xfrm>
            <a:off x="4383024" y="914400"/>
            <a:ext cx="3422903" cy="25146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con circle people"/>
          <p:cNvSpPr/>
          <p:nvPr/>
        </p:nvSpPr>
        <p:spPr>
          <a:xfrm>
            <a:off x="4492752" y="1024128"/>
            <a:ext cx="384048" cy="384048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923" y="1116299"/>
            <a:ext cx="199704" cy="1997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86528" y="987552"/>
            <a:ext cx="270967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Aptos"/>
              </a:rPr>
              <a:t>Project PRISM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6528" y="1261872"/>
            <a:ext cx="27096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67B2"/>
                </a:solidFill>
                <a:latin typeface="Aptos"/>
              </a:rPr>
              <a:t>New digital customer/operations architecture with Salesforce and Appstrail. Phase 1: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6528" y="1554480"/>
            <a:ext cx="2709671" cy="1819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Aptos"/>
              </a:rPr>
              <a:t/>
            </a:r>
          </a:p>
        </p:txBody>
      </p:sp>
      <p:sp>
        <p:nvSpPr>
          <p:cNvPr id="21" name="Chip"/>
          <p:cNvSpPr/>
          <p:nvPr/>
        </p:nvSpPr>
        <p:spPr>
          <a:xfrm>
            <a:off x="4565904" y="1874519"/>
            <a:ext cx="148285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5904" y="1874519"/>
            <a:ext cx="148285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067B2"/>
                </a:solidFill>
                <a:latin typeface="Aptos"/>
              </a:rPr>
              <a:t>CRM</a:t>
            </a:r>
          </a:p>
        </p:txBody>
      </p:sp>
      <p:sp>
        <p:nvSpPr>
          <p:cNvPr id="23" name="Chip"/>
          <p:cNvSpPr/>
          <p:nvPr/>
        </p:nvSpPr>
        <p:spPr>
          <a:xfrm>
            <a:off x="6140196" y="1874519"/>
            <a:ext cx="148285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0196" y="1874519"/>
            <a:ext cx="148285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067B2"/>
                </a:solidFill>
                <a:latin typeface="Aptos"/>
              </a:rPr>
              <a:t>Collect360</a:t>
            </a:r>
          </a:p>
        </p:txBody>
      </p:sp>
      <p:sp>
        <p:nvSpPr>
          <p:cNvPr id="25" name="Chip"/>
          <p:cNvSpPr/>
          <p:nvPr/>
        </p:nvSpPr>
        <p:spPr>
          <a:xfrm>
            <a:off x="4565904" y="2258568"/>
            <a:ext cx="148285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5904" y="2258568"/>
            <a:ext cx="148285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067B2"/>
                </a:solidFill>
                <a:latin typeface="Aptos"/>
              </a:rPr>
              <a:t>Meter Reading App</a:t>
            </a:r>
          </a:p>
        </p:txBody>
      </p:sp>
      <p:sp>
        <p:nvSpPr>
          <p:cNvPr id="27" name="Chip"/>
          <p:cNvSpPr/>
          <p:nvPr/>
        </p:nvSpPr>
        <p:spPr>
          <a:xfrm>
            <a:off x="6140196" y="2258568"/>
            <a:ext cx="148285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0196" y="2258568"/>
            <a:ext cx="148285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067B2"/>
                </a:solidFill>
                <a:latin typeface="Aptos"/>
              </a:rPr>
              <a:t>Five O&amp;M apps</a:t>
            </a:r>
          </a:p>
        </p:txBody>
      </p:sp>
      <p:sp>
        <p:nvSpPr>
          <p:cNvPr id="29" name="Chip"/>
          <p:cNvSpPr/>
          <p:nvPr/>
        </p:nvSpPr>
        <p:spPr>
          <a:xfrm>
            <a:off x="4565904" y="2642615"/>
            <a:ext cx="148285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5904" y="2642615"/>
            <a:ext cx="148285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067B2"/>
                </a:solidFill>
                <a:latin typeface="Aptos"/>
              </a:rPr>
              <a:t>Single customer view</a:t>
            </a:r>
          </a:p>
        </p:txBody>
      </p:sp>
      <p:sp>
        <p:nvSpPr>
          <p:cNvPr id="31" name="Chip"/>
          <p:cNvSpPr/>
          <p:nvPr/>
        </p:nvSpPr>
        <p:spPr>
          <a:xfrm>
            <a:off x="6140196" y="2642615"/>
            <a:ext cx="148285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0196" y="2642615"/>
            <a:ext cx="148285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067B2"/>
                </a:solidFill>
                <a:latin typeface="Aptos"/>
              </a:rPr>
              <a:t>Breaking data silos</a:t>
            </a:r>
          </a:p>
        </p:txBody>
      </p:sp>
      <p:sp>
        <p:nvSpPr>
          <p:cNvPr id="33" name="Chip"/>
          <p:cNvSpPr/>
          <p:nvPr/>
        </p:nvSpPr>
        <p:spPr>
          <a:xfrm>
            <a:off x="4565904" y="3035808"/>
            <a:ext cx="3057143" cy="292608"/>
          </a:xfrm>
          <a:prstGeom prst="rect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65904" y="3035808"/>
            <a:ext cx="305714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First AI-enabled use case</a:t>
            </a:r>
          </a:p>
        </p:txBody>
      </p:sp>
      <p:sp>
        <p:nvSpPr>
          <p:cNvPr id="35" name="Card"/>
          <p:cNvSpPr/>
          <p:nvPr/>
        </p:nvSpPr>
        <p:spPr>
          <a:xfrm>
            <a:off x="7943087" y="914400"/>
            <a:ext cx="3422903" cy="25146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con circle shield"/>
          <p:cNvSpPr/>
          <p:nvPr/>
        </p:nvSpPr>
        <p:spPr>
          <a:xfrm>
            <a:off x="8052815" y="1024128"/>
            <a:ext cx="384048" cy="384048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4987" y="1116299"/>
            <a:ext cx="199704" cy="19970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46592" y="987552"/>
            <a:ext cx="270967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Aptos"/>
              </a:rPr>
              <a:t>Digital HSE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6592" y="1261872"/>
            <a:ext cx="2709671" cy="2112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Aptos"/>
              </a:rPr>
              <a:t/>
            </a:r>
          </a:p>
        </p:txBody>
      </p:sp>
      <p:sp>
        <p:nvSpPr>
          <p:cNvPr id="40" name="Num"/>
          <p:cNvSpPr/>
          <p:nvPr/>
        </p:nvSpPr>
        <p:spPr>
          <a:xfrm>
            <a:off x="8546592" y="1325880"/>
            <a:ext cx="237744" cy="237744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6592" y="132588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75775" y="1325880"/>
            <a:ext cx="237134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Digital safety audits</a:t>
            </a:r>
          </a:p>
        </p:txBody>
      </p:sp>
      <p:sp>
        <p:nvSpPr>
          <p:cNvPr id="43" name="Num"/>
          <p:cNvSpPr/>
          <p:nvPr/>
        </p:nvSpPr>
        <p:spPr>
          <a:xfrm>
            <a:off x="8546592" y="1655064"/>
            <a:ext cx="237744" cy="237744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6592" y="165506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75775" y="1655064"/>
            <a:ext cx="237134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Real-time compliance</a:t>
            </a:r>
          </a:p>
        </p:txBody>
      </p:sp>
      <p:sp>
        <p:nvSpPr>
          <p:cNvPr id="46" name="Num"/>
          <p:cNvSpPr/>
          <p:nvPr/>
        </p:nvSpPr>
        <p:spPr>
          <a:xfrm>
            <a:off x="8546592" y="1984248"/>
            <a:ext cx="237744" cy="237744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6592" y="1984248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75775" y="1984248"/>
            <a:ext cx="237134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Incident tracking</a:t>
            </a:r>
          </a:p>
        </p:txBody>
      </p:sp>
      <p:sp>
        <p:nvSpPr>
          <p:cNvPr id="49" name="Num"/>
          <p:cNvSpPr/>
          <p:nvPr/>
        </p:nvSpPr>
        <p:spPr>
          <a:xfrm>
            <a:off x="8546592" y="2313432"/>
            <a:ext cx="237744" cy="237744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6592" y="2313432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75775" y="2313432"/>
            <a:ext cx="237134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Root-cause analysis</a:t>
            </a:r>
          </a:p>
        </p:txBody>
      </p:sp>
      <p:sp>
        <p:nvSpPr>
          <p:cNvPr id="52" name="Num"/>
          <p:cNvSpPr/>
          <p:nvPr/>
        </p:nvSpPr>
        <p:spPr>
          <a:xfrm>
            <a:off x="8546592" y="2642615"/>
            <a:ext cx="237744" cy="237744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6592" y="2642615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75775" y="2642615"/>
            <a:ext cx="237134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ptos"/>
              </a:rPr>
              <a:t>Corrective-action monitoring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6592" y="3017520"/>
            <a:ext cx="26913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404040"/>
                </a:solidFill>
                <a:latin typeface="Aptos"/>
              </a:rPr>
              <a:t>Supports virtual audits, photographic evidence and centralised HSE monitoring.</a:t>
            </a:r>
          </a:p>
        </p:txBody>
      </p:sp>
      <p:sp>
        <p:nvSpPr>
          <p:cNvPr id="56" name="Card"/>
          <p:cNvSpPr/>
          <p:nvPr/>
        </p:nvSpPr>
        <p:spPr>
          <a:xfrm>
            <a:off x="822960" y="3657600"/>
            <a:ext cx="1325880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con circle network"/>
          <p:cNvSpPr/>
          <p:nvPr/>
        </p:nvSpPr>
        <p:spPr>
          <a:xfrm>
            <a:off x="896112" y="3877056"/>
            <a:ext cx="420624" cy="420624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061" y="3978005"/>
            <a:ext cx="218724" cy="21872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371600" y="3657600"/>
            <a:ext cx="777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ptos"/>
              </a:rPr>
              <a:t>Digital O&amp;M</a:t>
            </a:r>
          </a:p>
        </p:txBody>
      </p:sp>
      <p:sp>
        <p:nvSpPr>
          <p:cNvPr id="60" name="Chip"/>
          <p:cNvSpPr/>
          <p:nvPr/>
        </p:nvSpPr>
        <p:spPr>
          <a:xfrm>
            <a:off x="2286000" y="3657600"/>
            <a:ext cx="2331720" cy="868680"/>
          </a:xfrm>
          <a:prstGeom prst="rect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31720" y="3657600"/>
            <a:ext cx="22402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SCADA + GIS + AMR + IVMS
+ ICCC + SAP + PRISM</a:t>
            </a:r>
          </a:p>
        </p:txBody>
      </p:sp>
      <p:sp>
        <p:nvSpPr>
          <p:cNvPr id="62" name="Step"/>
          <p:cNvSpPr/>
          <p:nvPr/>
        </p:nvSpPr>
        <p:spPr>
          <a:xfrm>
            <a:off x="4754880" y="3657600"/>
            <a:ext cx="1431950" cy="868680"/>
          </a:xfrm>
          <a:prstGeom prst="chevron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47488" y="3657600"/>
            <a:ext cx="91074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F7A17"/>
                </a:solidFill>
                <a:latin typeface="Aptos"/>
              </a:rPr>
              <a:t>Predictive maintenance</a:t>
            </a:r>
          </a:p>
        </p:txBody>
      </p:sp>
      <p:sp>
        <p:nvSpPr>
          <p:cNvPr id="64" name="Step"/>
          <p:cNvSpPr/>
          <p:nvPr/>
        </p:nvSpPr>
        <p:spPr>
          <a:xfrm>
            <a:off x="6077102" y="3657600"/>
            <a:ext cx="1431950" cy="868680"/>
          </a:xfrm>
          <a:prstGeom prst="chevron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69710" y="3657600"/>
            <a:ext cx="91074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F7A17"/>
                </a:solidFill>
                <a:latin typeface="Aptos"/>
              </a:rPr>
              <a:t>Asset optimisation</a:t>
            </a:r>
          </a:p>
        </p:txBody>
      </p:sp>
      <p:sp>
        <p:nvSpPr>
          <p:cNvPr id="66" name="Step"/>
          <p:cNvSpPr/>
          <p:nvPr/>
        </p:nvSpPr>
        <p:spPr>
          <a:xfrm>
            <a:off x="7399324" y="3657600"/>
            <a:ext cx="1431950" cy="868680"/>
          </a:xfrm>
          <a:prstGeom prst="chevron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91932" y="3657600"/>
            <a:ext cx="91074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F7A17"/>
                </a:solidFill>
                <a:latin typeface="Aptos"/>
              </a:rPr>
              <a:t>Demand forecasting</a:t>
            </a:r>
          </a:p>
        </p:txBody>
      </p:sp>
      <p:sp>
        <p:nvSpPr>
          <p:cNvPr id="68" name="Step"/>
          <p:cNvSpPr/>
          <p:nvPr/>
        </p:nvSpPr>
        <p:spPr>
          <a:xfrm>
            <a:off x="8721547" y="3657600"/>
            <a:ext cx="1431950" cy="868680"/>
          </a:xfrm>
          <a:prstGeom prst="chevron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14155" y="3657600"/>
            <a:ext cx="91074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F7A17"/>
                </a:solidFill>
                <a:latin typeface="Aptos"/>
              </a:rPr>
              <a:t>Automated workflows</a:t>
            </a:r>
          </a:p>
        </p:txBody>
      </p:sp>
      <p:sp>
        <p:nvSpPr>
          <p:cNvPr id="70" name="Step"/>
          <p:cNvSpPr/>
          <p:nvPr/>
        </p:nvSpPr>
        <p:spPr>
          <a:xfrm>
            <a:off x="10043769" y="3657600"/>
            <a:ext cx="1431950" cy="868680"/>
          </a:xfrm>
          <a:prstGeom prst="chevron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336377" y="3657600"/>
            <a:ext cx="91074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AI-enabled operations</a:t>
            </a:r>
          </a:p>
        </p:txBody>
      </p:sp>
      <p:sp>
        <p:nvSpPr>
          <p:cNvPr id="72" name="Takeaway"/>
          <p:cNvSpPr/>
          <p:nvPr/>
        </p:nvSpPr>
        <p:spPr>
          <a:xfrm>
            <a:off x="822960" y="4754880"/>
            <a:ext cx="10543032" cy="868680"/>
          </a:xfrm>
          <a:prstGeom prst="rect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akeaway text"/>
          <p:cNvSpPr txBox="1"/>
          <p:nvPr/>
        </p:nvSpPr>
        <p:spPr>
          <a:xfrm>
            <a:off x="1005840" y="4800600"/>
            <a:ext cx="1017727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67B2"/>
                </a:solidFill>
                <a:latin typeface="Aptos"/>
              </a:rPr>
              <a:t>FROM CAPABILITY BUILDING TO CAPABILITY LEVERAGE  </a:t>
            </a:r>
            <a:r>
              <a:rPr sz="1100" b="0" i="0">
                <a:solidFill>
                  <a:srgbClr val="000000"/>
                </a:solidFill>
                <a:latin typeface="Aptos"/>
              </a:rPr>
              <a:t>Over the last 5-6 years, MGL has built more than physical infrastructure - it has built an execution platform combining network scale, asset integrity, HSE, project execution, digital systems and operational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Financial performance over past 5 years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22960" y="868680"/>
            <a:ext cx="1054303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Aptos"/>
              </a:rPr>
              <a:t>Values in INR Crores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1298448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ptos"/>
              </a:rPr>
              <a:t>Revenue</a:t>
            </a:r>
          </a:p>
        </p:txBody>
      </p:sp>
      <p:graphicFrame>
        <p:nvGraphicFramePr>
          <p:cNvPr id="9" name="Chart"/>
          <p:cNvGraphicFramePr>
            <a:graphicFrameLocks noGrp="1"/>
          </p:cNvGraphicFramePr>
          <p:nvPr/>
        </p:nvGraphicFramePr>
        <p:xfrm>
          <a:off x="731520" y="1527048"/>
          <a:ext cx="5257800" cy="2057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72200" y="1298448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ptos"/>
              </a:rPr>
              <a:t>PAT</a:t>
            </a:r>
          </a:p>
        </p:txBody>
      </p:sp>
      <p:graphicFrame>
        <p:nvGraphicFramePr>
          <p:cNvPr id="11" name="Chart"/>
          <p:cNvGraphicFramePr>
            <a:graphicFrameLocks noGrp="1"/>
          </p:cNvGraphicFramePr>
          <p:nvPr/>
        </p:nvGraphicFramePr>
        <p:xfrm>
          <a:off x="6080760" y="1527048"/>
          <a:ext cx="5257800" cy="2057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2960" y="369417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ptos"/>
              </a:rPr>
              <a:t>EBITDA</a:t>
            </a:r>
          </a:p>
        </p:txBody>
      </p:sp>
      <p:graphicFrame>
        <p:nvGraphicFramePr>
          <p:cNvPr id="13" name="Chart"/>
          <p:cNvGraphicFramePr>
            <a:graphicFrameLocks noGrp="1"/>
          </p:cNvGraphicFramePr>
          <p:nvPr/>
        </p:nvGraphicFramePr>
        <p:xfrm>
          <a:off x="731520" y="3922776"/>
          <a:ext cx="5257800" cy="2057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72200" y="369417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ptos"/>
              </a:rPr>
              <a:t>Gross Margin</a:t>
            </a:r>
          </a:p>
        </p:txBody>
      </p:sp>
      <p:graphicFrame>
        <p:nvGraphicFramePr>
          <p:cNvPr id="15" name="Chart"/>
          <p:cNvGraphicFramePr>
            <a:graphicFrameLocks noGrp="1"/>
          </p:cNvGraphicFramePr>
          <p:nvPr/>
        </p:nvGraphicFramePr>
        <p:xfrm>
          <a:off x="6080760" y="3922776"/>
          <a:ext cx="5257800" cy="20574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Infrastructure and volumes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ptos"/>
              </a:rPr>
              <a:t>CNG Customers (end users) Growth (in '000s)</a:t>
            </a:r>
          </a:p>
        </p:txBody>
      </p:sp>
      <p:graphicFrame>
        <p:nvGraphicFramePr>
          <p:cNvPr id="9" name="Chart"/>
          <p:cNvGraphicFramePr>
            <a:graphicFrameLocks noGrp="1"/>
          </p:cNvGraphicFramePr>
          <p:nvPr/>
        </p:nvGraphicFramePr>
        <p:xfrm>
          <a:off x="731520" y="1417320"/>
          <a:ext cx="525780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11887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ptos"/>
              </a:rPr>
              <a:t>PNG Customers (end users) Growth (in '000s)</a:t>
            </a:r>
          </a:p>
        </p:txBody>
      </p:sp>
      <p:graphicFrame>
        <p:nvGraphicFramePr>
          <p:cNvPr id="11" name="Chart"/>
          <p:cNvGraphicFramePr>
            <a:graphicFrameLocks noGrp="1"/>
          </p:cNvGraphicFramePr>
          <p:nvPr/>
        </p:nvGraphicFramePr>
        <p:xfrm>
          <a:off x="6172200" y="1417320"/>
          <a:ext cx="5257800" cy="1920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2960" y="352044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ptos"/>
              </a:rPr>
              <a:t>Sales Volume</a:t>
            </a:r>
          </a:p>
        </p:txBody>
      </p:sp>
      <p:graphicFrame>
        <p:nvGraphicFramePr>
          <p:cNvPr id="13" name="Chart"/>
          <p:cNvGraphicFramePr>
            <a:graphicFrameLocks noGrp="1"/>
          </p:cNvGraphicFramePr>
          <p:nvPr/>
        </p:nvGraphicFramePr>
        <p:xfrm>
          <a:off x="731520" y="3749039"/>
          <a:ext cx="7955279" cy="228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Card"/>
          <p:cNvSpPr/>
          <p:nvPr/>
        </p:nvSpPr>
        <p:spPr>
          <a:xfrm>
            <a:off x="8915400" y="3749039"/>
            <a:ext cx="2450592" cy="2194560"/>
          </a:xfrm>
          <a:prstGeom prst="rect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con circle chart-up"/>
          <p:cNvSpPr/>
          <p:nvPr/>
        </p:nvSpPr>
        <p:spPr>
          <a:xfrm>
            <a:off x="9052560" y="3886200"/>
            <a:ext cx="548640" cy="54864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art-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4233" y="4017873"/>
            <a:ext cx="285292" cy="2852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52560" y="45262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Aptos"/>
              </a:rPr>
              <a:t>YoY Volume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846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Aptos"/>
              </a:rPr>
              <a:t>FY 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512064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F7A17"/>
                </a:solidFill>
                <a:latin typeface="Aptos"/>
              </a:rPr>
              <a:t>09%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Growth- Infrastructure and Volume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ptos"/>
              </a:rPr>
              <a:t>CNG Customers (end users) Growth (in '000s)</a:t>
            </a:r>
          </a:p>
        </p:txBody>
      </p:sp>
      <p:graphicFrame>
        <p:nvGraphicFramePr>
          <p:cNvPr id="9" name="Chart"/>
          <p:cNvGraphicFramePr>
            <a:graphicFrameLocks noGrp="1"/>
          </p:cNvGraphicFramePr>
          <p:nvPr/>
        </p:nvGraphicFramePr>
        <p:xfrm>
          <a:off x="731520" y="1417320"/>
          <a:ext cx="525780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11887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ptos"/>
              </a:rPr>
              <a:t>PNG Customers (end users) Growth (in '000s)</a:t>
            </a:r>
          </a:p>
        </p:txBody>
      </p:sp>
      <p:graphicFrame>
        <p:nvGraphicFramePr>
          <p:cNvPr id="11" name="Chart"/>
          <p:cNvGraphicFramePr>
            <a:graphicFrameLocks noGrp="1"/>
          </p:cNvGraphicFramePr>
          <p:nvPr/>
        </p:nvGraphicFramePr>
        <p:xfrm>
          <a:off x="6172200" y="1417320"/>
          <a:ext cx="5257800" cy="1920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2960" y="352044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ptos"/>
              </a:rPr>
              <a:t>Sales Volume</a:t>
            </a:r>
          </a:p>
        </p:txBody>
      </p:sp>
      <p:graphicFrame>
        <p:nvGraphicFramePr>
          <p:cNvPr id="13" name="Chart"/>
          <p:cNvGraphicFramePr>
            <a:graphicFrameLocks noGrp="1"/>
          </p:cNvGraphicFramePr>
          <p:nvPr/>
        </p:nvGraphicFramePr>
        <p:xfrm>
          <a:off x="731520" y="3749039"/>
          <a:ext cx="7955279" cy="228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Card"/>
          <p:cNvSpPr/>
          <p:nvPr/>
        </p:nvSpPr>
        <p:spPr>
          <a:xfrm>
            <a:off x="8915400" y="3749039"/>
            <a:ext cx="2450592" cy="2194560"/>
          </a:xfrm>
          <a:prstGeom prst="rect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con circle chart-up"/>
          <p:cNvSpPr/>
          <p:nvPr/>
        </p:nvSpPr>
        <p:spPr>
          <a:xfrm>
            <a:off x="9052560" y="3886200"/>
            <a:ext cx="548640" cy="54864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art-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4233" y="4017873"/>
            <a:ext cx="285292" cy="2852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52560" y="45262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Aptos"/>
              </a:rPr>
              <a:t>YoY Volume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846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Aptos"/>
              </a:rPr>
              <a:t>FY 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512064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F7A17"/>
                </a:solidFill>
                <a:latin typeface="Aptos"/>
              </a:rPr>
              <a:t>09%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CAPEX Outlay Plan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8" name="Card"/>
          <p:cNvSpPr/>
          <p:nvPr/>
        </p:nvSpPr>
        <p:spPr>
          <a:xfrm>
            <a:off x="822960" y="1188720"/>
            <a:ext cx="338328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con circle rupee"/>
          <p:cNvSpPr/>
          <p:nvPr/>
        </p:nvSpPr>
        <p:spPr>
          <a:xfrm>
            <a:off x="950976" y="1476756"/>
            <a:ext cx="475488" cy="475488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up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3" y="1590873"/>
            <a:ext cx="247253" cy="24725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45336" y="1252728"/>
            <a:ext cx="2569464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0067B2"/>
                </a:solidFill>
                <a:latin typeface="Aptos"/>
              </a:rPr>
              <a:t>Rs. 9,300 Crore*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1673352"/>
            <a:ext cx="2569464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Aptos"/>
              </a:rPr>
              <a:t>Total capex till 31st March 2026</a:t>
            </a:r>
          </a:p>
        </p:txBody>
      </p:sp>
      <p:sp>
        <p:nvSpPr>
          <p:cNvPr id="13" name="Card"/>
          <p:cNvSpPr/>
          <p:nvPr/>
        </p:nvSpPr>
        <p:spPr>
          <a:xfrm>
            <a:off x="822960" y="2377440"/>
            <a:ext cx="338328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con circle chart-up"/>
          <p:cNvSpPr/>
          <p:nvPr/>
        </p:nvSpPr>
        <p:spPr>
          <a:xfrm>
            <a:off x="950976" y="2665476"/>
            <a:ext cx="475488" cy="475488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hart-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093" y="2779593"/>
            <a:ext cx="247253" cy="2472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45336" y="2441448"/>
            <a:ext cx="2569464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2F7A17"/>
                </a:solidFill>
                <a:latin typeface="Aptos"/>
              </a:rPr>
              <a:t>~Rs.6,850 Crore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5336" y="2862072"/>
            <a:ext cx="2569464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Aptos"/>
              </a:rPr>
              <a:t>Plan to Invest ~Rs.6,850 Crore in next 5 years</a:t>
            </a:r>
          </a:p>
        </p:txBody>
      </p:sp>
      <p:sp>
        <p:nvSpPr>
          <p:cNvPr id="18" name="Callout"/>
          <p:cNvSpPr/>
          <p:nvPr/>
        </p:nvSpPr>
        <p:spPr>
          <a:xfrm>
            <a:off x="822960" y="3566160"/>
            <a:ext cx="3383280" cy="2103120"/>
          </a:xfrm>
          <a:prstGeom prst="rect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21024"/>
            <a:ext cx="3163824" cy="1993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F7A17"/>
                </a:solidFill>
                <a:latin typeface="Aptos"/>
              </a:rPr>
              <a:t> </a:t>
            </a:r>
            <a:r>
              <a:rPr sz="900" b="0" i="0">
                <a:solidFill>
                  <a:srgbClr val="000000"/>
                </a:solidFill>
                <a:latin typeface="Aptos"/>
              </a:rPr>
              <a:t>Reinvesting Profits to enhance CGD network for benefit of Consumers primarily PNG Customers.
Targeting addition of about 1 million and 500K DPNG customers in next 5 years in MGL and UEPL GAs, respectively.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18872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ptos"/>
              </a:rPr>
              <a:t>Total Capex (Rs. Cr)</a:t>
            </a:r>
          </a:p>
        </p:txBody>
      </p:sp>
      <p:graphicFrame>
        <p:nvGraphicFramePr>
          <p:cNvPr id="21" name="Chart"/>
          <p:cNvGraphicFramePr>
            <a:graphicFrameLocks noGrp="1"/>
          </p:cNvGraphicFramePr>
          <p:nvPr/>
        </p:nvGraphicFramePr>
        <p:xfrm>
          <a:off x="4389120" y="1417320"/>
          <a:ext cx="7040880" cy="42062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" name="Source"/>
          <p:cNvSpPr txBox="1"/>
          <p:nvPr/>
        </p:nvSpPr>
        <p:spPr>
          <a:xfrm>
            <a:off x="822960" y="6144768"/>
            <a:ext cx="10085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E6E6E"/>
                </a:solidFill>
                <a:latin typeface="Aptos"/>
              </a:rPr>
              <a:t>*The figures include MGL and UEPL Capex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5-year Business Plan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8" name="Card"/>
          <p:cNvSpPr/>
          <p:nvPr/>
        </p:nvSpPr>
        <p:spPr>
          <a:xfrm>
            <a:off x="822960" y="1280160"/>
            <a:ext cx="3422903" cy="2011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con circle home"/>
          <p:cNvSpPr/>
          <p:nvPr/>
        </p:nvSpPr>
        <p:spPr>
          <a:xfrm>
            <a:off x="1051560" y="1508760"/>
            <a:ext cx="685800" cy="68580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1" y="1673351"/>
            <a:ext cx="356616" cy="3566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2331720"/>
            <a:ext cx="296570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ptos"/>
              </a:rPr>
              <a:t>Connect ~12.5 lakhs additional households</a:t>
            </a:r>
          </a:p>
        </p:txBody>
      </p:sp>
      <p:sp>
        <p:nvSpPr>
          <p:cNvPr id="12" name="Card"/>
          <p:cNvSpPr/>
          <p:nvPr/>
        </p:nvSpPr>
        <p:spPr>
          <a:xfrm>
            <a:off x="4383024" y="1280160"/>
            <a:ext cx="3422903" cy="2011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con circle fuel-pump"/>
          <p:cNvSpPr/>
          <p:nvPr/>
        </p:nvSpPr>
        <p:spPr>
          <a:xfrm>
            <a:off x="4611624" y="1508760"/>
            <a:ext cx="685800" cy="685800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uel-pu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215" y="1673351"/>
            <a:ext cx="356616" cy="3566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11624" y="2331720"/>
            <a:ext cx="296570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ptos"/>
              </a:rPr>
              <a:t>New LNG stations at multiple locations to cater to the long-haul segment</a:t>
            </a:r>
          </a:p>
        </p:txBody>
      </p:sp>
      <p:sp>
        <p:nvSpPr>
          <p:cNvPr id="16" name="Card"/>
          <p:cNvSpPr/>
          <p:nvPr/>
        </p:nvSpPr>
        <p:spPr>
          <a:xfrm>
            <a:off x="7943087" y="1280160"/>
            <a:ext cx="3422903" cy="2011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con circle fuel-pump"/>
          <p:cNvSpPr/>
          <p:nvPr/>
        </p:nvSpPr>
        <p:spPr>
          <a:xfrm>
            <a:off x="8171687" y="1508760"/>
            <a:ext cx="685800" cy="68580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uel-pu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279" y="1673351"/>
            <a:ext cx="356616" cy="3566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71687" y="2331720"/>
            <a:ext cx="296570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ptos"/>
              </a:rPr>
              <a:t>250+ additional CNG stations for meeting rising demand of CNG</a:t>
            </a:r>
          </a:p>
        </p:txBody>
      </p:sp>
      <p:sp>
        <p:nvSpPr>
          <p:cNvPr id="20" name="Card"/>
          <p:cNvSpPr/>
          <p:nvPr/>
        </p:nvSpPr>
        <p:spPr>
          <a:xfrm>
            <a:off x="822960" y="3520440"/>
            <a:ext cx="3422903" cy="2011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con circle chart-up"/>
          <p:cNvSpPr/>
          <p:nvPr/>
        </p:nvSpPr>
        <p:spPr>
          <a:xfrm>
            <a:off x="1051560" y="3749039"/>
            <a:ext cx="685800" cy="685800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art-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1" y="3913631"/>
            <a:ext cx="356616" cy="35661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1560" y="4572000"/>
            <a:ext cx="296570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ptos"/>
              </a:rPr>
              <a:t>Sales Volume upto ~ 6.80 mmscmd   (CAGR 10%)</a:t>
            </a:r>
          </a:p>
        </p:txBody>
      </p:sp>
      <p:sp>
        <p:nvSpPr>
          <p:cNvPr id="24" name="Card"/>
          <p:cNvSpPr/>
          <p:nvPr/>
        </p:nvSpPr>
        <p:spPr>
          <a:xfrm>
            <a:off x="4383024" y="3520440"/>
            <a:ext cx="3422903" cy="2011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con circle network"/>
          <p:cNvSpPr/>
          <p:nvPr/>
        </p:nvSpPr>
        <p:spPr>
          <a:xfrm>
            <a:off x="4611624" y="3749039"/>
            <a:ext cx="685800" cy="68580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215" y="3913631"/>
            <a:ext cx="356616" cy="35661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11624" y="4572000"/>
            <a:ext cx="296570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ptos"/>
              </a:rPr>
              <a:t>Expansion of pipeline network of more than~1,000 kms</a:t>
            </a:r>
          </a:p>
        </p:txBody>
      </p:sp>
      <p:sp>
        <p:nvSpPr>
          <p:cNvPr id="28" name="Card"/>
          <p:cNvSpPr/>
          <p:nvPr/>
        </p:nvSpPr>
        <p:spPr>
          <a:xfrm>
            <a:off x="7943087" y="3520440"/>
            <a:ext cx="3422903" cy="2011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con circle rupee"/>
          <p:cNvSpPr/>
          <p:nvPr/>
        </p:nvSpPr>
        <p:spPr>
          <a:xfrm>
            <a:off x="8171687" y="3749039"/>
            <a:ext cx="685800" cy="685800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rup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6279" y="3913631"/>
            <a:ext cx="356616" cy="35661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71687" y="4572000"/>
            <a:ext cx="296570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ptos"/>
              </a:rPr>
              <a:t>Invest about Rs.6,000 crore to meet the expansion plan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O&amp;M Infrastructure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O&amp;M infrastructure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8" name="Header"/>
          <p:cNvSpPr/>
          <p:nvPr/>
        </p:nvSpPr>
        <p:spPr>
          <a:xfrm>
            <a:off x="822960" y="1188720"/>
            <a:ext cx="5134355" cy="347472"/>
          </a:xfrm>
          <a:prstGeom prst="rect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188720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Emergency Control Stations</a:t>
            </a:r>
          </a:p>
        </p:txBody>
      </p:sp>
      <p:sp>
        <p:nvSpPr>
          <p:cNvPr id="10" name="Header"/>
          <p:cNvSpPr/>
          <p:nvPr/>
        </p:nvSpPr>
        <p:spPr>
          <a:xfrm>
            <a:off x="6231636" y="1188720"/>
            <a:ext cx="5134355" cy="347472"/>
          </a:xfrm>
          <a:prstGeom prst="rect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8796" y="1188720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Security Control Room</a:t>
            </a:r>
          </a:p>
        </p:txBody>
      </p:sp>
      <p:sp>
        <p:nvSpPr>
          <p:cNvPr id="12" name="Connector"/>
          <p:cNvSpPr/>
          <p:nvPr/>
        </p:nvSpPr>
        <p:spPr>
          <a:xfrm>
            <a:off x="6085331" y="1188720"/>
            <a:ext cx="18288" cy="48463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"/>
          <p:cNvSpPr/>
          <p:nvPr/>
        </p:nvSpPr>
        <p:spPr>
          <a:xfrm>
            <a:off x="822960" y="1645920"/>
            <a:ext cx="1650491" cy="1783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con circle buildings"/>
          <p:cNvSpPr/>
          <p:nvPr/>
        </p:nvSpPr>
        <p:spPr>
          <a:xfrm>
            <a:off x="932688" y="1755648"/>
            <a:ext cx="420624" cy="420624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uil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37" y="1856597"/>
            <a:ext cx="218724" cy="2187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32688" y="2267712"/>
            <a:ext cx="14676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Aptos"/>
              </a:rPr>
              <a:t>MGL has divided its authorized GAs into 16 districts</a:t>
            </a:r>
          </a:p>
        </p:txBody>
      </p:sp>
      <p:sp>
        <p:nvSpPr>
          <p:cNvPr id="17" name="Card"/>
          <p:cNvSpPr/>
          <p:nvPr/>
        </p:nvSpPr>
        <p:spPr>
          <a:xfrm>
            <a:off x="2564891" y="1645920"/>
            <a:ext cx="1650491" cy="1783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con circle bolt"/>
          <p:cNvSpPr/>
          <p:nvPr/>
        </p:nvSpPr>
        <p:spPr>
          <a:xfrm>
            <a:off x="2674620" y="1755648"/>
            <a:ext cx="420624" cy="420624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569" y="1856597"/>
            <a:ext cx="218724" cy="2187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674620" y="2267712"/>
            <a:ext cx="14676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Aptos"/>
              </a:rPr>
              <a:t>24 x 7 Control 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4620" y="2816352"/>
            <a:ext cx="14676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Aptos"/>
              </a:rPr>
              <a:t>To receive complaints of damages and stoppage of gas</a:t>
            </a:r>
          </a:p>
        </p:txBody>
      </p:sp>
      <p:sp>
        <p:nvSpPr>
          <p:cNvPr id="22" name="Card"/>
          <p:cNvSpPr/>
          <p:nvPr/>
        </p:nvSpPr>
        <p:spPr>
          <a:xfrm>
            <a:off x="4306824" y="1645920"/>
            <a:ext cx="1650491" cy="1783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con circle bus"/>
          <p:cNvSpPr/>
          <p:nvPr/>
        </p:nvSpPr>
        <p:spPr>
          <a:xfrm>
            <a:off x="4416552" y="1755648"/>
            <a:ext cx="420624" cy="420624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501" y="1856597"/>
            <a:ext cx="218724" cy="2187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416552" y="2267712"/>
            <a:ext cx="14676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Aptos"/>
              </a:rPr>
              <a:t>29 Emergency Van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2816352"/>
            <a:ext cx="14676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  <a:latin typeface="Aptos"/>
              </a:rPr>
              <a:t>Fully Equipped and operational round the clock</a:t>
            </a:r>
          </a:p>
        </p:txBody>
      </p:sp>
      <p:sp>
        <p:nvSpPr>
          <p:cNvPr id="27" name="Card"/>
          <p:cNvSpPr/>
          <p:nvPr/>
        </p:nvSpPr>
        <p:spPr>
          <a:xfrm>
            <a:off x="6231636" y="1645920"/>
            <a:ext cx="1650491" cy="1783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con circle shield"/>
          <p:cNvSpPr/>
          <p:nvPr/>
        </p:nvSpPr>
        <p:spPr>
          <a:xfrm>
            <a:off x="6341364" y="1755648"/>
            <a:ext cx="420624" cy="420624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2313" y="1856597"/>
            <a:ext cx="218724" cy="21872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341364" y="2267712"/>
            <a:ext cx="14676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ptos"/>
              </a:rPr>
              <a:t>CCTV SURVEILLANCE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1364" y="2724912"/>
            <a:ext cx="146761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  <a:latin typeface="Aptos"/>
              </a:rPr>
              <a:t>-Monitoring through cameras installed at strategic locations
-Establishing two-way communication through D3D cameras</a:t>
            </a:r>
          </a:p>
        </p:txBody>
      </p:sp>
      <p:sp>
        <p:nvSpPr>
          <p:cNvPr id="32" name="Card"/>
          <p:cNvSpPr/>
          <p:nvPr/>
        </p:nvSpPr>
        <p:spPr>
          <a:xfrm>
            <a:off x="7973567" y="1645920"/>
            <a:ext cx="1650491" cy="1783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con circle bus"/>
          <p:cNvSpPr/>
          <p:nvPr/>
        </p:nvSpPr>
        <p:spPr>
          <a:xfrm>
            <a:off x="8083295" y="1755648"/>
            <a:ext cx="420624" cy="420624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245" y="1856597"/>
            <a:ext cx="218724" cy="21872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083295" y="2267712"/>
            <a:ext cx="14676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ptos"/>
              </a:rPr>
              <a:t>IN VEHICLE MONITORING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83295" y="2724912"/>
            <a:ext cx="146761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  <a:latin typeface="Aptos"/>
              </a:rPr>
              <a:t>-Vehicle &amp; trip monitoring of CTV
-Driver behavior monitoring
-Live information streams</a:t>
            </a:r>
          </a:p>
        </p:txBody>
      </p:sp>
      <p:sp>
        <p:nvSpPr>
          <p:cNvPr id="37" name="Card"/>
          <p:cNvSpPr/>
          <p:nvPr/>
        </p:nvSpPr>
        <p:spPr>
          <a:xfrm>
            <a:off x="9715500" y="1645920"/>
            <a:ext cx="1650491" cy="1783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con circle network"/>
          <p:cNvSpPr/>
          <p:nvPr/>
        </p:nvSpPr>
        <p:spPr>
          <a:xfrm>
            <a:off x="9825228" y="1755648"/>
            <a:ext cx="420624" cy="420624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netwo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6177" y="1856597"/>
            <a:ext cx="218724" cy="21872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825228" y="2267712"/>
            <a:ext cx="14676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ptos"/>
              </a:rPr>
              <a:t>VEHICLE TRACKING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5228" y="2724912"/>
            <a:ext cx="146761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  <a:latin typeface="Aptos"/>
              </a:rPr>
              <a:t>-Monitor pipeline patrolling activity
-Real time tracking &amp; alerts</a:t>
            </a:r>
          </a:p>
        </p:txBody>
      </p:sp>
      <p:pic>
        <p:nvPicPr>
          <p:cNvPr id="42" name="Chart image" descr="emergency-control-room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710900"/>
            <a:ext cx="2521458" cy="2170254"/>
          </a:xfrm>
          <a:prstGeom prst="rect">
            <a:avLst/>
          </a:prstGeom>
        </p:spPr>
      </p:pic>
      <p:pic>
        <p:nvPicPr>
          <p:cNvPr id="43" name="Chart image" descr="emergency-va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5857" y="3741759"/>
            <a:ext cx="2521458" cy="2108536"/>
          </a:xfrm>
          <a:prstGeom prst="rect">
            <a:avLst/>
          </a:prstGeom>
        </p:spPr>
      </p:pic>
      <p:pic>
        <p:nvPicPr>
          <p:cNvPr id="44" name="Chart image" descr="security-room-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1636" y="3758772"/>
            <a:ext cx="2521458" cy="2074510"/>
          </a:xfrm>
          <a:prstGeom prst="rect">
            <a:avLst/>
          </a:prstGeom>
        </p:spPr>
      </p:pic>
      <p:pic>
        <p:nvPicPr>
          <p:cNvPr id="45" name="Chart image" descr="security-room-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44534" y="3887394"/>
            <a:ext cx="2521458" cy="18172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O&amp;M infrastructure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pic>
        <p:nvPicPr>
          <p:cNvPr id="8" name="Chart image" descr="icc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837" y="1143000"/>
            <a:ext cx="5795277" cy="4572000"/>
          </a:xfrm>
          <a:prstGeom prst="rect">
            <a:avLst/>
          </a:prstGeom>
        </p:spPr>
      </p:pic>
      <p:sp>
        <p:nvSpPr>
          <p:cNvPr id="9" name="Caption"/>
          <p:cNvSpPr/>
          <p:nvPr/>
        </p:nvSpPr>
        <p:spPr>
          <a:xfrm>
            <a:off x="1737360" y="5486400"/>
            <a:ext cx="3840480" cy="411480"/>
          </a:xfrm>
          <a:prstGeom prst="rect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54864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Integrated Command and Control Centre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MGL’s Vision and Long-term Strategy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8" name="Card"/>
          <p:cNvSpPr/>
          <p:nvPr/>
        </p:nvSpPr>
        <p:spPr>
          <a:xfrm>
            <a:off x="822960" y="1188720"/>
            <a:ext cx="3840480" cy="4663440"/>
          </a:xfrm>
          <a:prstGeom prst="rect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325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67B2"/>
                </a:solidFill>
                <a:latin typeface="Aptos"/>
              </a:rPr>
              <a:t>LAKSHYA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83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F7A17"/>
                </a:solidFill>
                <a:latin typeface="Aptos"/>
              </a:rPr>
              <a:t>Vision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ptos"/>
              </a:rPr>
              <a:t>A diversified energy utility: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5176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51AD30"/>
                </a:solidFill>
                <a:latin typeface="Aptos"/>
              </a:rPr>
              <a:t>1st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65176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ptos"/>
              </a:rPr>
              <a:t>quartile in employee 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55264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51AD30"/>
                </a:solidFill>
                <a:latin typeface="Aptos"/>
              </a:rPr>
              <a:t>2x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25526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ptos"/>
              </a:rPr>
              <a:t>volume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58768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51AD30"/>
                </a:solidFill>
                <a:latin typeface="Aptos"/>
              </a:rPr>
              <a:t>3x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858768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ptos"/>
              </a:rPr>
              <a:t>margins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62272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51AD30"/>
                </a:solidFill>
                <a:latin typeface="Aptos"/>
              </a:rPr>
              <a:t>1/4th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46227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ptos"/>
              </a:rPr>
              <a:t>revenue from new businesses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065776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51AD30"/>
                </a:solidFill>
                <a:latin typeface="Aptos"/>
              </a:rPr>
              <a:t>in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506577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ptos"/>
              </a:rPr>
              <a:t>years</a:t>
            </a:r>
          </a:p>
        </p:txBody>
      </p:sp>
      <p:sp>
        <p:nvSpPr>
          <p:cNvPr id="22" name="Card"/>
          <p:cNvSpPr/>
          <p:nvPr/>
        </p:nvSpPr>
        <p:spPr>
          <a:xfrm>
            <a:off x="4937760" y="1188720"/>
            <a:ext cx="2051303" cy="4663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con circle bolt"/>
          <p:cNvSpPr/>
          <p:nvPr/>
        </p:nvSpPr>
        <p:spPr>
          <a:xfrm>
            <a:off x="5460492" y="1463040"/>
            <a:ext cx="1005840" cy="100584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893" y="1704441"/>
            <a:ext cx="523036" cy="5230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120640" y="2743200"/>
            <a:ext cx="16855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ptos"/>
              </a:rPr>
              <a:t>Be a diversified Clean Energy company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703320"/>
            <a:ext cx="168554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04040"/>
                </a:solidFill>
                <a:latin typeface="Aptos"/>
              </a:rPr>
              <a:t>Diversify into new energy areas (e-mobility, biofuels)</a:t>
            </a:r>
          </a:p>
        </p:txBody>
      </p:sp>
      <p:sp>
        <p:nvSpPr>
          <p:cNvPr id="27" name="Card"/>
          <p:cNvSpPr/>
          <p:nvPr/>
        </p:nvSpPr>
        <p:spPr>
          <a:xfrm>
            <a:off x="7126224" y="1188720"/>
            <a:ext cx="2051303" cy="4663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con circle bulb"/>
          <p:cNvSpPr/>
          <p:nvPr/>
        </p:nvSpPr>
        <p:spPr>
          <a:xfrm>
            <a:off x="7648956" y="1463040"/>
            <a:ext cx="1005840" cy="1005840"/>
          </a:xfrm>
          <a:prstGeom prst="ellipse">
            <a:avLst/>
          </a:prstGeom>
          <a:solidFill>
            <a:srgbClr val="00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357" y="1704441"/>
            <a:ext cx="523036" cy="52303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09104" y="2743200"/>
            <a:ext cx="16855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ptos"/>
              </a:rPr>
              <a:t>Be a Digital Leader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09104" y="3703320"/>
            <a:ext cx="168554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04040"/>
                </a:solidFill>
                <a:latin typeface="Aptos"/>
              </a:rPr>
              <a:t>Digitize  across  the  value  chain (network planning to operations &amp; maintenance to customer service)</a:t>
            </a:r>
          </a:p>
        </p:txBody>
      </p:sp>
      <p:sp>
        <p:nvSpPr>
          <p:cNvPr id="32" name="Card"/>
          <p:cNvSpPr/>
          <p:nvPr/>
        </p:nvSpPr>
        <p:spPr>
          <a:xfrm>
            <a:off x="9314688" y="1188720"/>
            <a:ext cx="2051303" cy="4663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con circle people"/>
          <p:cNvSpPr/>
          <p:nvPr/>
        </p:nvSpPr>
        <p:spPr>
          <a:xfrm>
            <a:off x="9837420" y="1463040"/>
            <a:ext cx="1005840" cy="1005840"/>
          </a:xfrm>
          <a:prstGeom prst="ellipse">
            <a:avLst/>
          </a:prstGeom>
          <a:solidFill>
            <a:srgbClr val="FC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8821" y="1704441"/>
            <a:ext cx="523036" cy="52303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497568" y="2743200"/>
            <a:ext cx="16855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ptos"/>
              </a:rPr>
              <a:t>Among India's top energy companies to work for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7568" y="3703320"/>
            <a:ext cx="168554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404040"/>
                </a:solidFill>
                <a:latin typeface="Aptos"/>
              </a:rPr>
              <a:t>Create and sustain an Employee friendly workplace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Business Expansion &amp; Diversification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1463040" y="1188720"/>
          <a:ext cx="9902952" cy="4480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57400"/>
                <a:gridCol w="2697480"/>
                <a:gridCol w="2651760"/>
                <a:gridCol w="2496312"/>
              </a:tblGrid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Aptos"/>
                        </a:rPr>
                        <a:t>New business opportunity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EA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EA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Aptos"/>
                        </a:rPr>
                        <a:t>Adjacency with MGL's core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EA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EAF5E6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Aptos"/>
                        </a:rPr>
                        <a:t>CGD acquisition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Augment Growth in the core sector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Leveraging core competencies of MGL in the CGD sector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2F7A17"/>
                          </a:solidFill>
                          <a:latin typeface="Aptos"/>
                        </a:rPr>
                        <a:t>MGL auqired 100% stake in UEPL. Merger completed.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EAF5E6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Aptos"/>
                        </a:rPr>
                        <a:t>Long Haul/ Circular movement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Cluster-based approach
Replace existing diesel fleet with LNG for closed loop logistics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Extension of MGL‘s business through participation in long haul logistics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Rolling out LNG stations.
Savroli (started in Aug-23) Launched Aurangabad in Oct-24. target to add 3 more LNG stations within 1 year period.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Aptos"/>
                        </a:rPr>
                        <a:t>Compressed Bio Gas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Set up Asia‘s biggest CBG plant at Mumbai, having capacity to process 1,000 TPD MSW
BMC to provide land and feedstock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Similar composition and energy potential to CNG; green renewable alternative for MGL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Concession agreement to be signed with BMC.
JV agreement with the partner to be signed after CA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Aptos"/>
                        </a:rPr>
                        <a:t>Green Hydrogen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Develop use cases for Hydrogen for the mobility and Industrial segments through pilot projects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Hydrogen to be blended in the CGD network.
Hydrogen to be dispensed in FCEV‘s deployed as part of project.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Land for pilot project has been acquired at Rasayani, Patalganga.
A pilot project of 0.5 MW for blending application has been planned to be implemented.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Num"/>
          <p:cNvSpPr/>
          <p:nvPr/>
        </p:nvSpPr>
        <p:spPr>
          <a:xfrm>
            <a:off x="822960" y="2281428"/>
            <a:ext cx="502920" cy="50292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142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Num"/>
          <p:cNvSpPr/>
          <p:nvPr/>
        </p:nvSpPr>
        <p:spPr>
          <a:xfrm>
            <a:off x="822960" y="3177539"/>
            <a:ext cx="502920" cy="50292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75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Num"/>
          <p:cNvSpPr/>
          <p:nvPr/>
        </p:nvSpPr>
        <p:spPr>
          <a:xfrm>
            <a:off x="822960" y="4073652"/>
            <a:ext cx="502920" cy="50292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7365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Num"/>
          <p:cNvSpPr/>
          <p:nvPr/>
        </p:nvSpPr>
        <p:spPr>
          <a:xfrm>
            <a:off x="822960" y="4969764"/>
            <a:ext cx="502920" cy="50292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96976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Business Expansion &amp; Diversification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1463040" y="1188720"/>
          <a:ext cx="9902952" cy="3840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57400"/>
                <a:gridCol w="2697480"/>
                <a:gridCol w="2651760"/>
                <a:gridCol w="2496312"/>
              </a:tblGrid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Aptos"/>
                        </a:rPr>
                        <a:t>New business opportunity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EA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EA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Aptos"/>
                        </a:rPr>
                        <a:t>Adjacency with MGL's core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EA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Aptos"/>
                        </a:rPr>
                        <a:t>Initiative Taken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EAF5E6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Aptos"/>
                        </a:rPr>
                        <a:t>EV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Exploring opportunities in the rapidly  expanding  e-mobility space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Aligns with MGL‘s objective of being a diversified clean energy company.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Invested in 3W EV manufacturing company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Aptos"/>
                        </a:rPr>
                        <a:t>Lithium Ion Battery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Setting up a Joint Venture to manufacture Li-Ion battery cells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Complements MGL‘s interest in the mobility sector.
Will immensely help India indigenize the core of EV value chain.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Land has been acquired from KIADB in Bangalore.
MEP &amp; CSE Design in final stages.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0000"/>
                          </a:solidFill>
                          <a:latin typeface="Aptos"/>
                        </a:rPr>
                        <a:t>Renewable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Exploring opportunities in the renewable energy space – Captive use as well as solar/ wind assets/ platforms.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Aligns with MGL‘s objective of being a diversified clean energy company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Aptos"/>
                        </a:rPr>
                        <a:t>Invested in group captive Solar Power generation to meet demand at MGL‘s COCO CNG stations.</a:t>
                      </a:r>
                    </a:p>
                  </a:txBody>
                  <a:tcPr marL="54864" marR="54864" marT="27432" marB="27432" anchor="ctr">
                    <a:lnL w="31750" cap="flat" cmpd="sng" algn="ctr">
                      <a:solidFill>
                        <a:srgbClr val="FFFFFF"/>
                      </a:solidFill>
                    </a:lnL>
                    <a:lnR w="31750" cap="flat" cmpd="sng" algn="ctr">
                      <a:solidFill>
                        <a:srgbClr val="FFFFFF"/>
                      </a:solidFill>
                    </a:lnR>
                    <a:lnT w="31750" cap="flat" cmpd="sng" algn="ctr">
                      <a:solidFill>
                        <a:srgbClr val="FFFFFF"/>
                      </a:solidFill>
                    </a:lnT>
                    <a:lnB w="31750" cap="flat" cmpd="sng" algn="ctr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Num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1" name="Num"/>
          <p:cNvSpPr/>
          <p:nvPr/>
        </p:nvSpPr>
        <p:spPr>
          <a:xfrm>
            <a:off x="822960" y="3337560"/>
            <a:ext cx="502920" cy="50292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3" name="Num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5" name="Callout"/>
          <p:cNvSpPr/>
          <p:nvPr/>
        </p:nvSpPr>
        <p:spPr>
          <a:xfrm>
            <a:off x="822960" y="5212080"/>
            <a:ext cx="10543032" cy="548640"/>
          </a:xfrm>
          <a:prstGeom prst="rect">
            <a:avLst/>
          </a:prstGeom>
          <a:solidFill>
            <a:srgbClr val="EA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266944"/>
            <a:ext cx="10323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F7A17"/>
                </a:solidFill>
                <a:latin typeface="Aptos"/>
              </a:rPr>
              <a:t> </a:t>
            </a:r>
            <a:r>
              <a:rPr sz="900" b="0" i="0">
                <a:solidFill>
                  <a:srgbClr val="000000"/>
                </a:solidFill>
                <a:latin typeface="Aptos"/>
              </a:rPr>
              <a:t>By 2040, MGL aims to be a diversified clean energy company and is actively working towards developing capabilities in new energy segments viz. Hydrogen, CBG and Renewable Energy.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CBG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Strategic CBG Initiatives &amp; Project Updates – Mumbai Region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8" name="Card"/>
          <p:cNvSpPr/>
          <p:nvPr/>
        </p:nvSpPr>
        <p:spPr>
          <a:xfrm>
            <a:off x="822960" y="1188720"/>
            <a:ext cx="4343400" cy="48463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con circle buildings"/>
          <p:cNvSpPr/>
          <p:nvPr/>
        </p:nvSpPr>
        <p:spPr>
          <a:xfrm>
            <a:off x="960120" y="1298448"/>
            <a:ext cx="457200" cy="45720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uil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408176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36192" y="1261872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F7A17"/>
                </a:solidFill>
                <a:latin typeface="Aptos"/>
              </a:rPr>
              <a:t>1. Municipal Solid Waste (MSW) Project – Mankhurd &amp; Deonar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965960"/>
            <a:ext cx="404164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har char="•"/>
            </a:pPr>
            <a:r>
              <a:rPr sz="1100" b="0" i="0">
                <a:solidFill>
                  <a:srgbClr val="000000"/>
                </a:solidFill>
                <a:latin typeface="Aptos"/>
              </a:rPr>
              <a:t/>
            </a:r>
            <a:r>
              <a:rPr sz="1100" b="1">
                <a:solidFill>
                  <a:srgbClr val="000000"/>
                </a:solidFill>
                <a:latin typeface="Aptos"/>
              </a:rPr>
              <a:t>MOU signed with BMC </a:t>
            </a:r>
            <a:r>
              <a:rPr sz="1100" b="0">
                <a:solidFill>
                  <a:srgbClr val="000000"/>
                </a:solidFill>
                <a:latin typeface="Aptos"/>
              </a:rPr>
              <a:t>on 08th June 2023 for setting up CBG plant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1100" b="1">
                <a:solidFill>
                  <a:srgbClr val="000000"/>
                </a:solidFill>
                <a:latin typeface="Aptos"/>
              </a:rPr>
              <a:t>Government Support: </a:t>
            </a:r>
            <a:r>
              <a:rPr sz="1100" b="0">
                <a:solidFill>
                  <a:srgbClr val="000000"/>
                </a:solidFill>
                <a:latin typeface="Aptos"/>
              </a:rPr>
              <a:t>GR issued (28th May 2025) for land allocation at concessional rates to MGL.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1100" b="1">
                <a:solidFill>
                  <a:srgbClr val="000000"/>
                </a:solidFill>
                <a:latin typeface="Aptos"/>
              </a:rPr>
              <a:t>Project Scope: </a:t>
            </a:r>
            <a:r>
              <a:rPr sz="1100" b="0">
                <a:solidFill>
                  <a:srgbClr val="000000"/>
                </a:solidFill>
                <a:latin typeface="Aptos"/>
              </a:rPr>
              <a:t>Total 1000 TPD capacity plant, to be executed in two phases (500 TPD each).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1100" b="1">
                <a:solidFill>
                  <a:srgbClr val="000000"/>
                </a:solidFill>
                <a:latin typeface="Aptos"/>
              </a:rPr>
              <a:t>Plot at Phase-1 Mankhurd: </a:t>
            </a:r>
            <a:r>
              <a:rPr sz="1100" b="0">
                <a:solidFill>
                  <a:srgbClr val="000000"/>
                </a:solidFill>
                <a:latin typeface="Aptos"/>
              </a:rPr>
              <a:t>Dismantling of the existing Mumbai Compost Structure is 95% complete by BMC.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1100" b="1">
                <a:solidFill>
                  <a:srgbClr val="000000"/>
                </a:solidFill>
                <a:latin typeface="Aptos"/>
              </a:rPr>
              <a:t>Key Milestone: </a:t>
            </a:r>
            <a:r>
              <a:rPr sz="1100" b="0">
                <a:solidFill>
                  <a:srgbClr val="000000"/>
                </a:solidFill>
                <a:latin typeface="Aptos"/>
              </a:rPr>
              <a:t>The structure of the Mumbai compost plant has been removed by BMC from the Mankhurd Bulldozer Garage site.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1100" b="1">
                <a:solidFill>
                  <a:srgbClr val="000000"/>
                </a:solidFill>
                <a:latin typeface="Aptos"/>
              </a:rPr>
              <a:t>Key Milestone: </a:t>
            </a:r>
            <a:r>
              <a:rPr sz="1100" b="0">
                <a:solidFill>
                  <a:srgbClr val="000000"/>
                </a:solidFill>
                <a:latin typeface="Aptos"/>
              </a:rPr>
              <a:t>Changes proposed in draft CA by BMC, under review. Concession Agreement (CA) with BMC expected to be signed in March 2026.</a:t>
            </a:r>
          </a:p>
        </p:txBody>
      </p:sp>
      <p:sp>
        <p:nvSpPr>
          <p:cNvPr id="13" name="Card"/>
          <p:cNvSpPr/>
          <p:nvPr/>
        </p:nvSpPr>
        <p:spPr>
          <a:xfrm>
            <a:off x="5303520" y="1188720"/>
            <a:ext cx="3017520" cy="48463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con circle sprout"/>
          <p:cNvSpPr/>
          <p:nvPr/>
        </p:nvSpPr>
        <p:spPr>
          <a:xfrm>
            <a:off x="5440680" y="1298448"/>
            <a:ext cx="457200" cy="45720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pr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1408176"/>
            <a:ext cx="237744" cy="2377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16752" y="1261872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F7A17"/>
                </a:solidFill>
                <a:latin typeface="Aptos"/>
              </a:rPr>
              <a:t>2. Cow Dung-Based Project – Aarey Colony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1965960"/>
            <a:ext cx="271576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har char="•"/>
            </a:pPr>
            <a:r>
              <a:rPr sz="1100" b="0" i="0">
                <a:solidFill>
                  <a:srgbClr val="000000"/>
                </a:solidFill>
                <a:latin typeface="Aptos"/>
              </a:rPr>
              <a:t/>
            </a:r>
            <a:r>
              <a:rPr sz="1100" b="1">
                <a:solidFill>
                  <a:srgbClr val="000000"/>
                </a:solidFill>
                <a:latin typeface="Aptos"/>
              </a:rPr>
              <a:t>Proposal Status: </a:t>
            </a:r>
            <a:r>
              <a:rPr sz="1100" b="0">
                <a:solidFill>
                  <a:srgbClr val="000000"/>
                </a:solidFill>
                <a:latin typeface="Aptos"/>
              </a:rPr>
              <a:t>Submitted to Secretary (Animal Husbandry), GoM, for allotment of 6 acres of land.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1100" b="1">
                <a:solidFill>
                  <a:srgbClr val="000000"/>
                </a:solidFill>
                <a:latin typeface="Aptos"/>
              </a:rPr>
              <a:t>Stakeholder Engagement: </a:t>
            </a:r>
            <a:r>
              <a:rPr sz="1100" b="0">
                <a:solidFill>
                  <a:srgbClr val="000000"/>
                </a:solidFill>
                <a:latin typeface="Aptos"/>
              </a:rPr>
              <a:t>Multiple rounds of discussions held with the Commissioner (Dairy Dev.) and CEO (Aarey) to expedite the process.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1100" b="0">
                <a:solidFill>
                  <a:srgbClr val="000000"/>
                </a:solidFill>
                <a:latin typeface="Aptos"/>
              </a:rPr>
              <a:t>The CEO of Aarey Colony has informed MGL to have discussions with NDDB, which will be one of the partners for executing the CBG Project at Aarey Colony.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1100" b="0">
                <a:solidFill>
                  <a:srgbClr val="000000"/>
                </a:solidFill>
                <a:latin typeface="Aptos"/>
              </a:rPr>
              <a:t>Subsequently, MGL officials have met with NDDB officials for further action on the proposal.</a:t>
            </a:r>
          </a:p>
        </p:txBody>
      </p:sp>
      <p:sp>
        <p:nvSpPr>
          <p:cNvPr id="18" name="Card"/>
          <p:cNvSpPr/>
          <p:nvPr/>
        </p:nvSpPr>
        <p:spPr>
          <a:xfrm>
            <a:off x="8458200" y="1188720"/>
            <a:ext cx="2907792" cy="48463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con circle leaf"/>
          <p:cNvSpPr/>
          <p:nvPr/>
        </p:nvSpPr>
        <p:spPr>
          <a:xfrm>
            <a:off x="8595360" y="1298448"/>
            <a:ext cx="457200" cy="457200"/>
          </a:xfrm>
          <a:prstGeom prst="ellipse">
            <a:avLst/>
          </a:prstGeom>
          <a:solidFill>
            <a:srgbClr val="51A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e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8" y="1408176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71432" y="1261872"/>
            <a:ext cx="20848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F7A17"/>
                </a:solidFill>
                <a:latin typeface="Aptos"/>
              </a:rPr>
              <a:t>3. Municipal Solid Waste (MSW) Project – Davangere, Karnataka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1965960"/>
            <a:ext cx="260604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har char="•"/>
            </a:pPr>
            <a:r>
              <a:rPr sz="1100" b="0" i="0">
                <a:solidFill>
                  <a:srgbClr val="000000"/>
                </a:solidFill>
                <a:latin typeface="Aptos"/>
              </a:rPr>
              <a:t/>
            </a:r>
            <a:r>
              <a:rPr sz="1100" b="0">
                <a:solidFill>
                  <a:srgbClr val="000000"/>
                </a:solidFill>
                <a:latin typeface="Aptos"/>
              </a:rPr>
              <a:t>Government of Karnataka(GoK) has allotted 10 acres of land to MGL for the establishment of CBG Plant at Avaragolla, Davangere, on 10th December 2025 for a period of 25 years, subject to a lease at the rate of ₹72,000 per acre per annum.</a:t>
            </a:r>
          </a:p>
          <a:p>
            <a:pPr marL="171450" indent="-171450">
              <a:spcAft>
                <a:spcPts val="400"/>
              </a:spcAft>
              <a:buChar char="•"/>
            </a:pPr>
            <a:r>
              <a:rPr sz="1100" b="0">
                <a:solidFill>
                  <a:srgbClr val="000000"/>
                </a:solidFill>
                <a:latin typeface="Aptos"/>
              </a:rPr>
              <a:t>MGL has requested City Corporation of Davangere (CCD), Karnataka, for reconsideration of the lease rent. Matter is being followed up.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1_MGL Templat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MGL template</dc:title>
  <dc:creator/>
  <cp:lastModifiedBy/>
  <cp:revision>530</cp:revision>
  <dcterms:created xsi:type="dcterms:W3CDTF">2025-02-06T05:36:40Z</dcterms:created>
  <dcterms:modified xsi:type="dcterms:W3CDTF">2026-09-25T07:27:12Z</dcterms:modified>
</cp:coreProperties>
</file>